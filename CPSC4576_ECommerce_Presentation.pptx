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3" d="100"/>
          <a:sy n="163" d="100"/>
        </p:scale>
        <p:origin x="184"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1083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8090"/>
          </a:solidFill>
          <a:ln w="12700">
            <a:solidFill>
              <a:srgbClr val="028090"/>
            </a:solidFill>
            <a:prstDash val="solid"/>
          </a:ln>
        </p:spPr>
        <p:txBody>
          <a:bodyPr/>
          <a:lstStyle/>
          <a:p>
            <a:endParaRPr lang="en-US"/>
          </a:p>
        </p:txBody>
      </p:sp>
      <p:sp>
        <p:nvSpPr>
          <p:cNvPr id="3" name="Shape 1"/>
          <p:cNvSpPr/>
          <p:nvPr/>
        </p:nvSpPr>
        <p:spPr>
          <a:xfrm>
            <a:off x="7132320" y="-731520"/>
            <a:ext cx="2926080" cy="2926080"/>
          </a:xfrm>
          <a:prstGeom prst="ellipse">
            <a:avLst/>
          </a:prstGeom>
          <a:solidFill>
            <a:srgbClr val="028090">
              <a:alpha val="20000"/>
            </a:srgbClr>
          </a:solidFill>
          <a:ln w="12700">
            <a:solidFill>
              <a:srgbClr val="028090">
                <a:alpha val="20000"/>
              </a:srgbClr>
            </a:solidFill>
            <a:prstDash val="solid"/>
          </a:ln>
        </p:spPr>
        <p:txBody>
          <a:bodyPr/>
          <a:lstStyle/>
          <a:p>
            <a:endParaRPr lang="en-US"/>
          </a:p>
        </p:txBody>
      </p:sp>
      <p:sp>
        <p:nvSpPr>
          <p:cNvPr id="4" name="Shape 2"/>
          <p:cNvSpPr/>
          <p:nvPr/>
        </p:nvSpPr>
        <p:spPr>
          <a:xfrm>
            <a:off x="7589520" y="-274320"/>
            <a:ext cx="2011680" cy="2011680"/>
          </a:xfrm>
          <a:prstGeom prst="ellipse">
            <a:avLst/>
          </a:prstGeom>
          <a:solidFill>
            <a:srgbClr val="02C39A">
              <a:alpha val="30000"/>
            </a:srgbClr>
          </a:solidFill>
          <a:ln w="12700">
            <a:solidFill>
              <a:srgbClr val="02C39A">
                <a:alpha val="30000"/>
              </a:srgbClr>
            </a:solidFill>
            <a:prstDash val="solid"/>
          </a:ln>
        </p:spPr>
        <p:txBody>
          <a:bodyPr/>
          <a:lstStyle/>
          <a:p>
            <a:endParaRPr lang="en-US"/>
          </a:p>
        </p:txBody>
      </p:sp>
      <p:sp>
        <p:nvSpPr>
          <p:cNvPr id="5" name="Shape 3"/>
          <p:cNvSpPr/>
          <p:nvPr/>
        </p:nvSpPr>
        <p:spPr>
          <a:xfrm>
            <a:off x="320040" y="960120"/>
            <a:ext cx="1645920" cy="274320"/>
          </a:xfrm>
          <a:prstGeom prst="rect">
            <a:avLst/>
          </a:prstGeom>
          <a:solidFill>
            <a:srgbClr val="028090"/>
          </a:solidFill>
          <a:ln w="12700">
            <a:solidFill>
              <a:srgbClr val="028090"/>
            </a:solidFill>
            <a:prstDash val="solid"/>
          </a:ln>
        </p:spPr>
        <p:txBody>
          <a:bodyPr/>
          <a:lstStyle/>
          <a:p>
            <a:endParaRPr lang="en-US"/>
          </a:p>
        </p:txBody>
      </p:sp>
      <p:sp>
        <p:nvSpPr>
          <p:cNvPr id="6" name="Text 4"/>
          <p:cNvSpPr/>
          <p:nvPr/>
        </p:nvSpPr>
        <p:spPr>
          <a:xfrm>
            <a:off x="320040" y="960120"/>
            <a:ext cx="1645920" cy="274320"/>
          </a:xfrm>
          <a:prstGeom prst="rect">
            <a:avLst/>
          </a:prstGeom>
          <a:noFill/>
          <a:ln/>
        </p:spPr>
        <p:txBody>
          <a:bodyPr wrap="square" lIns="0" tIns="0" rIns="0" bIns="0" rtlCol="0" anchor="ctr"/>
          <a:lstStyle/>
          <a:p>
            <a:pPr marL="0" indent="0" algn="ctr">
              <a:buNone/>
            </a:pPr>
            <a:r>
              <a:rPr lang="en-US" sz="1100" b="1" dirty="0">
                <a:solidFill>
                  <a:srgbClr val="FFFFFF"/>
                </a:solidFill>
              </a:rPr>
              <a:t>CPSC 4576</a:t>
            </a:r>
            <a:endParaRPr lang="en-US" sz="1100" dirty="0"/>
          </a:p>
        </p:txBody>
      </p:sp>
      <p:sp>
        <p:nvSpPr>
          <p:cNvPr id="7" name="Text 5"/>
          <p:cNvSpPr/>
          <p:nvPr/>
        </p:nvSpPr>
        <p:spPr>
          <a:xfrm>
            <a:off x="320040" y="1371600"/>
            <a:ext cx="6858000" cy="1737360"/>
          </a:xfrm>
          <a:prstGeom prst="rect">
            <a:avLst/>
          </a:prstGeom>
          <a:noFill/>
          <a:ln/>
        </p:spPr>
        <p:txBody>
          <a:bodyPr wrap="square" rtlCol="0" anchor="t"/>
          <a:lstStyle/>
          <a:p>
            <a:pPr marL="0" indent="0" algn="l">
              <a:lnSpc>
                <a:spcPct val="110000"/>
              </a:lnSpc>
              <a:buNone/>
            </a:pPr>
            <a:r>
              <a:rPr lang="en-US" sz="4000" b="1" dirty="0">
                <a:solidFill>
                  <a:srgbClr val="FFFFFF"/>
                </a:solidFill>
                <a:latin typeface="Calibri" pitchFamily="34" charset="0"/>
                <a:ea typeface="Calibri" pitchFamily="34" charset="-122"/>
                <a:cs typeface="Calibri" pitchFamily="34" charset="-120"/>
              </a:rPr>
              <a:t>E-Commerce Online</a:t>
            </a:r>
            <a:endParaRPr lang="en-US" sz="4000" dirty="0"/>
          </a:p>
          <a:p>
            <a:pPr marL="0" indent="0" algn="l">
              <a:lnSpc>
                <a:spcPct val="110000"/>
              </a:lnSpc>
              <a:buNone/>
            </a:pPr>
            <a:r>
              <a:rPr lang="en-US" sz="4000" b="1" dirty="0">
                <a:solidFill>
                  <a:srgbClr val="FFFFFF"/>
                </a:solidFill>
                <a:latin typeface="Calibri" pitchFamily="34" charset="0"/>
                <a:ea typeface="Calibri" pitchFamily="34" charset="-122"/>
                <a:cs typeface="Calibri" pitchFamily="34" charset="-120"/>
              </a:rPr>
              <a:t>Store Database System</a:t>
            </a:r>
            <a:endParaRPr lang="en-US" sz="4000" dirty="0"/>
          </a:p>
        </p:txBody>
      </p:sp>
      <p:sp>
        <p:nvSpPr>
          <p:cNvPr id="8" name="Text 6"/>
          <p:cNvSpPr/>
          <p:nvPr/>
        </p:nvSpPr>
        <p:spPr>
          <a:xfrm>
            <a:off x="320040" y="3200400"/>
            <a:ext cx="6858000" cy="457200"/>
          </a:xfrm>
          <a:prstGeom prst="rect">
            <a:avLst/>
          </a:prstGeom>
          <a:noFill/>
          <a:ln/>
        </p:spPr>
        <p:txBody>
          <a:bodyPr wrap="square" rtlCol="0" anchor="ctr"/>
          <a:lstStyle/>
          <a:p>
            <a:pPr marL="0" indent="0" algn="l">
              <a:buNone/>
            </a:pPr>
            <a:r>
              <a:rPr lang="en-US" sz="1600" dirty="0">
                <a:solidFill>
                  <a:srgbClr val="CBD5E1"/>
                </a:solidFill>
                <a:latin typeface="Calibri" pitchFamily="34" charset="0"/>
                <a:ea typeface="Calibri" pitchFamily="34" charset="-122"/>
                <a:cs typeface="Calibri" pitchFamily="34" charset="-120"/>
              </a:rPr>
              <a:t>Design, Development &amp; Implementation using Microsoft SQL Server</a:t>
            </a:r>
            <a:endParaRPr lang="en-US" sz="1600" dirty="0"/>
          </a:p>
        </p:txBody>
      </p:sp>
      <p:sp>
        <p:nvSpPr>
          <p:cNvPr id="9" name="Shape 7"/>
          <p:cNvSpPr/>
          <p:nvPr/>
        </p:nvSpPr>
        <p:spPr>
          <a:xfrm>
            <a:off x="320040" y="3840480"/>
            <a:ext cx="8229600" cy="731520"/>
          </a:xfrm>
          <a:prstGeom prst="rect">
            <a:avLst/>
          </a:prstGeom>
          <a:solidFill>
            <a:srgbClr val="FFFFFF">
              <a:alpha val="10000"/>
            </a:srgbClr>
          </a:solidFill>
          <a:ln w="12700">
            <a:solidFill>
              <a:srgbClr val="FFFFFF">
                <a:alpha val="30000"/>
              </a:srgbClr>
            </a:solidFill>
            <a:prstDash val="solid"/>
          </a:ln>
        </p:spPr>
        <p:txBody>
          <a:bodyPr/>
          <a:lstStyle/>
          <a:p>
            <a:endParaRPr lang="en-US"/>
          </a:p>
        </p:txBody>
      </p:sp>
      <p:sp>
        <p:nvSpPr>
          <p:cNvPr id="10" name="Text 8"/>
          <p:cNvSpPr/>
          <p:nvPr/>
        </p:nvSpPr>
        <p:spPr>
          <a:xfrm>
            <a:off x="411480" y="3886200"/>
            <a:ext cx="7772400" cy="64008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Syamala Rao Gudipudi  &amp;  Akshitha Sanapuri</a:t>
            </a:r>
            <a:endParaRPr lang="en-US" sz="1400" dirty="0"/>
          </a:p>
          <a:p>
            <a:pPr marL="0" indent="0">
              <a:buNone/>
            </a:pPr>
            <a:r>
              <a:rPr lang="en-US" sz="1400" dirty="0">
                <a:solidFill>
                  <a:srgbClr val="CBD5E1"/>
                </a:solidFill>
                <a:latin typeface="Calibri" pitchFamily="34" charset="0"/>
                <a:ea typeface="Calibri" pitchFamily="34" charset="-122"/>
                <a:cs typeface="Calibri" pitchFamily="34" charset="-120"/>
              </a:rPr>
              <a:t>Governors State University  |  Spring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Project Overview</a:t>
            </a:r>
            <a:endParaRPr lang="en-US" sz="3000" dirty="0"/>
          </a:p>
        </p:txBody>
      </p:sp>
      <p:sp>
        <p:nvSpPr>
          <p:cNvPr id="3" name="Shape 1"/>
          <p:cNvSpPr/>
          <p:nvPr/>
        </p:nvSpPr>
        <p:spPr>
          <a:xfrm>
            <a:off x="274320" y="868680"/>
            <a:ext cx="1920240" cy="137160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4" name="Shape 2"/>
          <p:cNvSpPr/>
          <p:nvPr/>
        </p:nvSpPr>
        <p:spPr>
          <a:xfrm>
            <a:off x="274320" y="868680"/>
            <a:ext cx="1920240" cy="109728"/>
          </a:xfrm>
          <a:prstGeom prst="rect">
            <a:avLst/>
          </a:prstGeom>
          <a:solidFill>
            <a:srgbClr val="028090"/>
          </a:solidFill>
          <a:ln w="12700">
            <a:solidFill>
              <a:srgbClr val="028090"/>
            </a:solidFill>
            <a:prstDash val="solid"/>
          </a:ln>
        </p:spPr>
        <p:txBody>
          <a:bodyPr/>
          <a:lstStyle/>
          <a:p>
            <a:endParaRPr lang="en-US"/>
          </a:p>
        </p:txBody>
      </p:sp>
      <p:sp>
        <p:nvSpPr>
          <p:cNvPr id="5" name="Text 3"/>
          <p:cNvSpPr/>
          <p:nvPr/>
        </p:nvSpPr>
        <p:spPr>
          <a:xfrm>
            <a:off x="274320" y="1005840"/>
            <a:ext cx="1920240" cy="640080"/>
          </a:xfrm>
          <a:prstGeom prst="rect">
            <a:avLst/>
          </a:prstGeom>
          <a:noFill/>
          <a:ln/>
        </p:spPr>
        <p:txBody>
          <a:bodyPr wrap="square" rtlCol="0" anchor="ctr"/>
          <a:lstStyle/>
          <a:p>
            <a:pPr marL="0" indent="0" algn="ctr">
              <a:buNone/>
            </a:pPr>
            <a:r>
              <a:rPr lang="en-US" sz="3600" b="1" dirty="0">
                <a:solidFill>
                  <a:srgbClr val="028090"/>
                </a:solidFill>
                <a:latin typeface="Calibri" pitchFamily="34" charset="0"/>
                <a:ea typeface="Calibri" pitchFamily="34" charset="-122"/>
                <a:cs typeface="Calibri" pitchFamily="34" charset="-120"/>
              </a:rPr>
              <a:t>6</a:t>
            </a:r>
            <a:endParaRPr lang="en-US" sz="3600" dirty="0"/>
          </a:p>
        </p:txBody>
      </p:sp>
      <p:sp>
        <p:nvSpPr>
          <p:cNvPr id="6" name="Text 4"/>
          <p:cNvSpPr/>
          <p:nvPr/>
        </p:nvSpPr>
        <p:spPr>
          <a:xfrm>
            <a:off x="274320" y="1627632"/>
            <a:ext cx="1920240" cy="548640"/>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Database</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Tables</a:t>
            </a:r>
            <a:endParaRPr lang="en-US" sz="1200" dirty="0"/>
          </a:p>
        </p:txBody>
      </p:sp>
      <p:sp>
        <p:nvSpPr>
          <p:cNvPr id="7" name="Shape 5"/>
          <p:cNvSpPr/>
          <p:nvPr/>
        </p:nvSpPr>
        <p:spPr>
          <a:xfrm>
            <a:off x="2468880" y="868680"/>
            <a:ext cx="1920240" cy="137160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8" name="Shape 6"/>
          <p:cNvSpPr/>
          <p:nvPr/>
        </p:nvSpPr>
        <p:spPr>
          <a:xfrm>
            <a:off x="2468880" y="868680"/>
            <a:ext cx="1920240" cy="109728"/>
          </a:xfrm>
          <a:prstGeom prst="rect">
            <a:avLst/>
          </a:prstGeom>
          <a:solidFill>
            <a:srgbClr val="1F4E79"/>
          </a:solidFill>
          <a:ln w="12700">
            <a:solidFill>
              <a:srgbClr val="1F4E79"/>
            </a:solidFill>
            <a:prstDash val="solid"/>
          </a:ln>
        </p:spPr>
        <p:txBody>
          <a:bodyPr/>
          <a:lstStyle/>
          <a:p>
            <a:endParaRPr lang="en-US"/>
          </a:p>
        </p:txBody>
      </p:sp>
      <p:sp>
        <p:nvSpPr>
          <p:cNvPr id="9" name="Text 7"/>
          <p:cNvSpPr/>
          <p:nvPr/>
        </p:nvSpPr>
        <p:spPr>
          <a:xfrm>
            <a:off x="2468880" y="1005840"/>
            <a:ext cx="1920240" cy="640080"/>
          </a:xfrm>
          <a:prstGeom prst="rect">
            <a:avLst/>
          </a:prstGeom>
          <a:noFill/>
          <a:ln/>
        </p:spPr>
        <p:txBody>
          <a:bodyPr wrap="square" rtlCol="0" anchor="ctr"/>
          <a:lstStyle/>
          <a:p>
            <a:pPr marL="0" indent="0" algn="ctr">
              <a:buNone/>
            </a:pPr>
            <a:r>
              <a:rPr lang="en-US" sz="3600" b="1" dirty="0">
                <a:solidFill>
                  <a:srgbClr val="1F4E79"/>
                </a:solidFill>
                <a:latin typeface="Calibri" pitchFamily="34" charset="0"/>
                <a:ea typeface="Calibri" pitchFamily="34" charset="-122"/>
                <a:cs typeface="Calibri" pitchFamily="34" charset="-120"/>
              </a:rPr>
              <a:t>3+3</a:t>
            </a:r>
            <a:endParaRPr lang="en-US" sz="3600" dirty="0"/>
          </a:p>
        </p:txBody>
      </p:sp>
      <p:sp>
        <p:nvSpPr>
          <p:cNvPr id="10" name="Text 8"/>
          <p:cNvSpPr/>
          <p:nvPr/>
        </p:nvSpPr>
        <p:spPr>
          <a:xfrm>
            <a:off x="2468880" y="1627632"/>
            <a:ext cx="1920240" cy="548640"/>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Views &amp;</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Stored Procs</a:t>
            </a:r>
            <a:endParaRPr lang="en-US" sz="1200" dirty="0"/>
          </a:p>
        </p:txBody>
      </p:sp>
      <p:sp>
        <p:nvSpPr>
          <p:cNvPr id="11" name="Shape 9"/>
          <p:cNvSpPr/>
          <p:nvPr/>
        </p:nvSpPr>
        <p:spPr>
          <a:xfrm>
            <a:off x="4663440" y="868680"/>
            <a:ext cx="1920240" cy="137160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4663440" y="868680"/>
            <a:ext cx="1920240" cy="109728"/>
          </a:xfrm>
          <a:prstGeom prst="rect">
            <a:avLst/>
          </a:prstGeom>
          <a:solidFill>
            <a:srgbClr val="F59E0B"/>
          </a:solidFill>
          <a:ln w="12700">
            <a:solidFill>
              <a:srgbClr val="F59E0B"/>
            </a:solidFill>
            <a:prstDash val="solid"/>
          </a:ln>
        </p:spPr>
        <p:txBody>
          <a:bodyPr/>
          <a:lstStyle/>
          <a:p>
            <a:endParaRPr lang="en-US"/>
          </a:p>
        </p:txBody>
      </p:sp>
      <p:sp>
        <p:nvSpPr>
          <p:cNvPr id="13" name="Text 11"/>
          <p:cNvSpPr/>
          <p:nvPr/>
        </p:nvSpPr>
        <p:spPr>
          <a:xfrm>
            <a:off x="4663440" y="1005840"/>
            <a:ext cx="1920240" cy="640080"/>
          </a:xfrm>
          <a:prstGeom prst="rect">
            <a:avLst/>
          </a:prstGeom>
          <a:noFill/>
          <a:ln/>
        </p:spPr>
        <p:txBody>
          <a:bodyPr wrap="square" rtlCol="0" anchor="ctr"/>
          <a:lstStyle/>
          <a:p>
            <a:pPr marL="0" indent="0" algn="ctr">
              <a:buNone/>
            </a:pPr>
            <a:r>
              <a:rPr lang="en-US" sz="3600" b="1" dirty="0">
                <a:solidFill>
                  <a:srgbClr val="F59E0B"/>
                </a:solidFill>
                <a:latin typeface="Calibri" pitchFamily="34" charset="0"/>
                <a:ea typeface="Calibri" pitchFamily="34" charset="-122"/>
                <a:cs typeface="Calibri" pitchFamily="34" charset="-120"/>
              </a:rPr>
              <a:t>3+3</a:t>
            </a:r>
            <a:endParaRPr lang="en-US" sz="3600" dirty="0"/>
          </a:p>
        </p:txBody>
      </p:sp>
      <p:sp>
        <p:nvSpPr>
          <p:cNvPr id="14" name="Text 12"/>
          <p:cNvSpPr/>
          <p:nvPr/>
        </p:nvSpPr>
        <p:spPr>
          <a:xfrm>
            <a:off x="4663440" y="1627632"/>
            <a:ext cx="1920240" cy="548640"/>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Functions</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&amp; Triggers</a:t>
            </a:r>
            <a:endParaRPr lang="en-US" sz="1200" dirty="0"/>
          </a:p>
        </p:txBody>
      </p:sp>
      <p:sp>
        <p:nvSpPr>
          <p:cNvPr id="15" name="Shape 13"/>
          <p:cNvSpPr/>
          <p:nvPr/>
        </p:nvSpPr>
        <p:spPr>
          <a:xfrm>
            <a:off x="6858000" y="868680"/>
            <a:ext cx="1920240" cy="137160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6858000" y="868680"/>
            <a:ext cx="1920240" cy="109728"/>
          </a:xfrm>
          <a:prstGeom prst="rect">
            <a:avLst/>
          </a:prstGeom>
          <a:solidFill>
            <a:srgbClr val="E11D48"/>
          </a:solidFill>
          <a:ln w="12700">
            <a:solidFill>
              <a:srgbClr val="E11D48"/>
            </a:solidFill>
            <a:prstDash val="solid"/>
          </a:ln>
        </p:spPr>
        <p:txBody>
          <a:bodyPr/>
          <a:lstStyle/>
          <a:p>
            <a:endParaRPr lang="en-US"/>
          </a:p>
        </p:txBody>
      </p:sp>
      <p:sp>
        <p:nvSpPr>
          <p:cNvPr id="17" name="Text 15"/>
          <p:cNvSpPr/>
          <p:nvPr/>
        </p:nvSpPr>
        <p:spPr>
          <a:xfrm>
            <a:off x="6858000" y="1005840"/>
            <a:ext cx="1920240" cy="640080"/>
          </a:xfrm>
          <a:prstGeom prst="rect">
            <a:avLst/>
          </a:prstGeom>
          <a:noFill/>
          <a:ln/>
        </p:spPr>
        <p:txBody>
          <a:bodyPr wrap="square" rtlCol="0" anchor="ctr"/>
          <a:lstStyle/>
          <a:p>
            <a:pPr marL="0" indent="0" algn="ctr">
              <a:buNone/>
            </a:pPr>
            <a:r>
              <a:rPr lang="en-US" sz="3600" b="1" dirty="0">
                <a:solidFill>
                  <a:srgbClr val="E11D48"/>
                </a:solidFill>
                <a:latin typeface="Calibri" pitchFamily="34" charset="0"/>
                <a:ea typeface="Calibri" pitchFamily="34" charset="-122"/>
                <a:cs typeface="Calibri" pitchFamily="34" charset="-120"/>
              </a:rPr>
              <a:t>SQL</a:t>
            </a:r>
            <a:endParaRPr lang="en-US" sz="3600" dirty="0"/>
          </a:p>
        </p:txBody>
      </p:sp>
      <p:sp>
        <p:nvSpPr>
          <p:cNvPr id="18" name="Text 16"/>
          <p:cNvSpPr/>
          <p:nvPr/>
        </p:nvSpPr>
        <p:spPr>
          <a:xfrm>
            <a:off x="6858000" y="1627632"/>
            <a:ext cx="1920240" cy="548640"/>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Microsoft</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SQL Server</a:t>
            </a:r>
            <a:endParaRPr lang="en-US" sz="1200" dirty="0"/>
          </a:p>
        </p:txBody>
      </p:sp>
      <p:sp>
        <p:nvSpPr>
          <p:cNvPr id="19" name="Text 17"/>
          <p:cNvSpPr/>
          <p:nvPr/>
        </p:nvSpPr>
        <p:spPr>
          <a:xfrm>
            <a:off x="457200" y="2423160"/>
            <a:ext cx="8229600" cy="347472"/>
          </a:xfrm>
          <a:prstGeom prst="rect">
            <a:avLst/>
          </a:prstGeom>
          <a:noFill/>
          <a:ln/>
        </p:spPr>
        <p:txBody>
          <a:bodyPr wrap="square"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What is ECommerceDB?</a:t>
            </a:r>
            <a:endParaRPr lang="en-US" sz="1600" dirty="0"/>
          </a:p>
        </p:txBody>
      </p:sp>
      <p:sp>
        <p:nvSpPr>
          <p:cNvPr id="20" name="Text 18"/>
          <p:cNvSpPr/>
          <p:nvPr/>
        </p:nvSpPr>
        <p:spPr>
          <a:xfrm>
            <a:off x="457200" y="2788920"/>
            <a:ext cx="8229600" cy="822960"/>
          </a:xfrm>
          <a:prstGeom prst="rect">
            <a:avLst/>
          </a:prstGeom>
          <a:noFill/>
          <a:ln/>
        </p:spPr>
        <p:txBody>
          <a:bodyPr wrap="square" rtlCol="0" anchor="ctr"/>
          <a:lstStyle/>
          <a:p>
            <a:pPr marL="0" indent="0" algn="just">
              <a:lnSpc>
                <a:spcPct val="130000"/>
              </a:lnSpc>
              <a:buNone/>
            </a:pPr>
            <a:r>
              <a:rPr lang="en-US" sz="1400" dirty="0">
                <a:solidFill>
                  <a:srgbClr val="0D1B2A"/>
                </a:solidFill>
                <a:latin typeface="Calibri" pitchFamily="34" charset="0"/>
                <a:ea typeface="Calibri" pitchFamily="34" charset="-122"/>
                <a:cs typeface="Calibri" pitchFamily="34" charset="-120"/>
              </a:rPr>
              <a:t>ECommerceDB is a fully normalized relational database system built using Microsoft SQL Server to manage the complete lifecycle of an online retail store. It handles product catalog management, customer registration, order processing, inventory tracking, and customer review management through a structured, integrity-enforced schema.</a:t>
            </a:r>
            <a:endParaRPr lang="en-US" sz="1400" dirty="0"/>
          </a:p>
        </p:txBody>
      </p:sp>
      <p:sp>
        <p:nvSpPr>
          <p:cNvPr id="21" name="Shape 19"/>
          <p:cNvSpPr/>
          <p:nvPr/>
        </p:nvSpPr>
        <p:spPr>
          <a:xfrm>
            <a:off x="274320" y="3794760"/>
            <a:ext cx="1325880" cy="320040"/>
          </a:xfrm>
          <a:prstGeom prst="roundRect">
            <a:avLst>
              <a:gd name="adj" fmla="val 14286"/>
            </a:avLst>
          </a:prstGeom>
          <a:solidFill>
            <a:srgbClr val="EBF3FB"/>
          </a:solidFill>
          <a:ln w="12700">
            <a:solidFill>
              <a:srgbClr val="028090"/>
            </a:solidFill>
            <a:prstDash val="solid"/>
          </a:ln>
        </p:spPr>
        <p:txBody>
          <a:bodyPr/>
          <a:lstStyle/>
          <a:p>
            <a:endParaRPr lang="en-US"/>
          </a:p>
        </p:txBody>
      </p:sp>
      <p:sp>
        <p:nvSpPr>
          <p:cNvPr id="22" name="Text 20"/>
          <p:cNvSpPr/>
          <p:nvPr/>
        </p:nvSpPr>
        <p:spPr>
          <a:xfrm>
            <a:off x="274320" y="3794760"/>
            <a:ext cx="1325880" cy="320040"/>
          </a:xfrm>
          <a:prstGeom prst="rect">
            <a:avLst/>
          </a:prstGeom>
          <a:noFill/>
          <a:ln/>
        </p:spPr>
        <p:txBody>
          <a:bodyPr wrap="square" rtlCol="0" anchor="ctr"/>
          <a:lstStyle/>
          <a:p>
            <a:pPr marL="0" indent="0" algn="ctr">
              <a:buNone/>
            </a:pPr>
            <a:r>
              <a:rPr lang="en-US" sz="1000" b="1" dirty="0">
                <a:solidFill>
                  <a:srgbClr val="028090"/>
                </a:solidFill>
                <a:latin typeface="Calibri" pitchFamily="34" charset="0"/>
                <a:ea typeface="Calibri" pitchFamily="34" charset="-122"/>
                <a:cs typeface="Calibri" pitchFamily="34" charset="-120"/>
              </a:rPr>
              <a:t>Microsoft SQL Server</a:t>
            </a:r>
            <a:endParaRPr lang="en-US" sz="1000" dirty="0"/>
          </a:p>
        </p:txBody>
      </p:sp>
      <p:sp>
        <p:nvSpPr>
          <p:cNvPr id="23" name="Shape 21"/>
          <p:cNvSpPr/>
          <p:nvPr/>
        </p:nvSpPr>
        <p:spPr>
          <a:xfrm>
            <a:off x="1737360" y="3794760"/>
            <a:ext cx="1325880" cy="320040"/>
          </a:xfrm>
          <a:prstGeom prst="roundRect">
            <a:avLst>
              <a:gd name="adj" fmla="val 14286"/>
            </a:avLst>
          </a:prstGeom>
          <a:solidFill>
            <a:srgbClr val="EBF3FB"/>
          </a:solidFill>
          <a:ln w="12700">
            <a:solidFill>
              <a:srgbClr val="028090"/>
            </a:solidFill>
            <a:prstDash val="solid"/>
          </a:ln>
        </p:spPr>
        <p:txBody>
          <a:bodyPr/>
          <a:lstStyle/>
          <a:p>
            <a:endParaRPr lang="en-US"/>
          </a:p>
        </p:txBody>
      </p:sp>
      <p:sp>
        <p:nvSpPr>
          <p:cNvPr id="24" name="Text 22"/>
          <p:cNvSpPr/>
          <p:nvPr/>
        </p:nvSpPr>
        <p:spPr>
          <a:xfrm>
            <a:off x="1737360" y="3794760"/>
            <a:ext cx="1325880" cy="320040"/>
          </a:xfrm>
          <a:prstGeom prst="rect">
            <a:avLst/>
          </a:prstGeom>
          <a:noFill/>
          <a:ln/>
        </p:spPr>
        <p:txBody>
          <a:bodyPr wrap="square" rtlCol="0" anchor="ctr"/>
          <a:lstStyle/>
          <a:p>
            <a:pPr marL="0" indent="0" algn="ctr">
              <a:buNone/>
            </a:pPr>
            <a:r>
              <a:rPr lang="en-US" sz="1000" b="1" dirty="0">
                <a:solidFill>
                  <a:srgbClr val="028090"/>
                </a:solidFill>
                <a:latin typeface="Calibri" pitchFamily="34" charset="0"/>
                <a:ea typeface="Calibri" pitchFamily="34" charset="-122"/>
                <a:cs typeface="Calibri" pitchFamily="34" charset="-120"/>
              </a:rPr>
              <a:t>VS Code + mssql</a:t>
            </a:r>
            <a:endParaRPr lang="en-US" sz="1000" dirty="0"/>
          </a:p>
        </p:txBody>
      </p:sp>
      <p:sp>
        <p:nvSpPr>
          <p:cNvPr id="25" name="Shape 23"/>
          <p:cNvSpPr/>
          <p:nvPr/>
        </p:nvSpPr>
        <p:spPr>
          <a:xfrm>
            <a:off x="3200400" y="3794760"/>
            <a:ext cx="1325880" cy="320040"/>
          </a:xfrm>
          <a:prstGeom prst="roundRect">
            <a:avLst>
              <a:gd name="adj" fmla="val 14286"/>
            </a:avLst>
          </a:prstGeom>
          <a:solidFill>
            <a:srgbClr val="EBF3FB"/>
          </a:solidFill>
          <a:ln w="12700">
            <a:solidFill>
              <a:srgbClr val="028090"/>
            </a:solidFill>
            <a:prstDash val="solid"/>
          </a:ln>
        </p:spPr>
        <p:txBody>
          <a:bodyPr/>
          <a:lstStyle/>
          <a:p>
            <a:endParaRPr lang="en-US"/>
          </a:p>
        </p:txBody>
      </p:sp>
      <p:sp>
        <p:nvSpPr>
          <p:cNvPr id="26" name="Text 24"/>
          <p:cNvSpPr/>
          <p:nvPr/>
        </p:nvSpPr>
        <p:spPr>
          <a:xfrm>
            <a:off x="3200400" y="3794760"/>
            <a:ext cx="1325880" cy="320040"/>
          </a:xfrm>
          <a:prstGeom prst="rect">
            <a:avLst/>
          </a:prstGeom>
          <a:noFill/>
          <a:ln/>
        </p:spPr>
        <p:txBody>
          <a:bodyPr wrap="square" rtlCol="0" anchor="ctr"/>
          <a:lstStyle/>
          <a:p>
            <a:pPr marL="0" indent="0" algn="ctr">
              <a:buNone/>
            </a:pPr>
            <a:r>
              <a:rPr lang="en-US" sz="1000" b="1" dirty="0">
                <a:solidFill>
                  <a:srgbClr val="028090"/>
                </a:solidFill>
                <a:latin typeface="Calibri" pitchFamily="34" charset="0"/>
                <a:ea typeface="Calibri" pitchFamily="34" charset="-122"/>
                <a:cs typeface="Calibri" pitchFamily="34" charset="-120"/>
              </a:rPr>
              <a:t>T-SQL</a:t>
            </a:r>
            <a:endParaRPr lang="en-US" sz="1000" dirty="0"/>
          </a:p>
        </p:txBody>
      </p:sp>
      <p:sp>
        <p:nvSpPr>
          <p:cNvPr id="27" name="Shape 25"/>
          <p:cNvSpPr/>
          <p:nvPr/>
        </p:nvSpPr>
        <p:spPr>
          <a:xfrm>
            <a:off x="4663440" y="3794760"/>
            <a:ext cx="1325880" cy="320040"/>
          </a:xfrm>
          <a:prstGeom prst="roundRect">
            <a:avLst>
              <a:gd name="adj" fmla="val 14286"/>
            </a:avLst>
          </a:prstGeom>
          <a:solidFill>
            <a:srgbClr val="EBF3FB"/>
          </a:solidFill>
          <a:ln w="12700">
            <a:solidFill>
              <a:srgbClr val="028090"/>
            </a:solidFill>
            <a:prstDash val="solid"/>
          </a:ln>
        </p:spPr>
        <p:txBody>
          <a:bodyPr/>
          <a:lstStyle/>
          <a:p>
            <a:endParaRPr lang="en-US"/>
          </a:p>
        </p:txBody>
      </p:sp>
      <p:sp>
        <p:nvSpPr>
          <p:cNvPr id="28" name="Text 26"/>
          <p:cNvSpPr/>
          <p:nvPr/>
        </p:nvSpPr>
        <p:spPr>
          <a:xfrm>
            <a:off x="4663440" y="3794760"/>
            <a:ext cx="1325880" cy="320040"/>
          </a:xfrm>
          <a:prstGeom prst="rect">
            <a:avLst/>
          </a:prstGeom>
          <a:noFill/>
          <a:ln/>
        </p:spPr>
        <p:txBody>
          <a:bodyPr wrap="square" rtlCol="0" anchor="ctr"/>
          <a:lstStyle/>
          <a:p>
            <a:pPr marL="0" indent="0" algn="ctr">
              <a:buNone/>
            </a:pPr>
            <a:r>
              <a:rPr lang="en-US" sz="1000" b="1" dirty="0">
                <a:solidFill>
                  <a:srgbClr val="028090"/>
                </a:solidFill>
                <a:latin typeface="Calibri" pitchFamily="34" charset="0"/>
                <a:ea typeface="Calibri" pitchFamily="34" charset="-122"/>
                <a:cs typeface="Calibri" pitchFamily="34" charset="-120"/>
              </a:rPr>
              <a:t>6 Tables</a:t>
            </a:r>
            <a:endParaRPr lang="en-US" sz="1000" dirty="0"/>
          </a:p>
        </p:txBody>
      </p:sp>
      <p:sp>
        <p:nvSpPr>
          <p:cNvPr id="29" name="Shape 27"/>
          <p:cNvSpPr/>
          <p:nvPr/>
        </p:nvSpPr>
        <p:spPr>
          <a:xfrm>
            <a:off x="6126480" y="3794760"/>
            <a:ext cx="1325880" cy="320040"/>
          </a:xfrm>
          <a:prstGeom prst="roundRect">
            <a:avLst>
              <a:gd name="adj" fmla="val 14286"/>
            </a:avLst>
          </a:prstGeom>
          <a:solidFill>
            <a:srgbClr val="EBF3FB"/>
          </a:solidFill>
          <a:ln w="12700">
            <a:solidFill>
              <a:srgbClr val="028090"/>
            </a:solidFill>
            <a:prstDash val="solid"/>
          </a:ln>
        </p:spPr>
        <p:txBody>
          <a:bodyPr/>
          <a:lstStyle/>
          <a:p>
            <a:endParaRPr lang="en-US"/>
          </a:p>
        </p:txBody>
      </p:sp>
      <p:sp>
        <p:nvSpPr>
          <p:cNvPr id="30" name="Text 28"/>
          <p:cNvSpPr/>
          <p:nvPr/>
        </p:nvSpPr>
        <p:spPr>
          <a:xfrm>
            <a:off x="6126480" y="3794760"/>
            <a:ext cx="1325880" cy="320040"/>
          </a:xfrm>
          <a:prstGeom prst="rect">
            <a:avLst/>
          </a:prstGeom>
          <a:noFill/>
          <a:ln/>
        </p:spPr>
        <p:txBody>
          <a:bodyPr wrap="square" rtlCol="0" anchor="ctr"/>
          <a:lstStyle/>
          <a:p>
            <a:pPr marL="0" indent="0" algn="ctr">
              <a:buNone/>
            </a:pPr>
            <a:r>
              <a:rPr lang="en-US" sz="1000" b="1" dirty="0">
                <a:solidFill>
                  <a:srgbClr val="028090"/>
                </a:solidFill>
                <a:latin typeface="Calibri" pitchFamily="34" charset="0"/>
                <a:ea typeface="Calibri" pitchFamily="34" charset="-122"/>
                <a:cs typeface="Calibri" pitchFamily="34" charset="-120"/>
              </a:rPr>
              <a:t>Stored Procs</a:t>
            </a:r>
            <a:endParaRPr lang="en-US" sz="1000" dirty="0"/>
          </a:p>
        </p:txBody>
      </p:sp>
      <p:sp>
        <p:nvSpPr>
          <p:cNvPr id="31" name="Shape 29"/>
          <p:cNvSpPr/>
          <p:nvPr/>
        </p:nvSpPr>
        <p:spPr>
          <a:xfrm>
            <a:off x="7589520" y="3794760"/>
            <a:ext cx="1325880" cy="320040"/>
          </a:xfrm>
          <a:prstGeom prst="roundRect">
            <a:avLst>
              <a:gd name="adj" fmla="val 14286"/>
            </a:avLst>
          </a:prstGeom>
          <a:solidFill>
            <a:srgbClr val="EBF3FB"/>
          </a:solidFill>
          <a:ln w="12700">
            <a:solidFill>
              <a:srgbClr val="028090"/>
            </a:solidFill>
            <a:prstDash val="solid"/>
          </a:ln>
        </p:spPr>
        <p:txBody>
          <a:bodyPr/>
          <a:lstStyle/>
          <a:p>
            <a:endParaRPr lang="en-US"/>
          </a:p>
        </p:txBody>
      </p:sp>
      <p:sp>
        <p:nvSpPr>
          <p:cNvPr id="32" name="Text 30"/>
          <p:cNvSpPr/>
          <p:nvPr/>
        </p:nvSpPr>
        <p:spPr>
          <a:xfrm>
            <a:off x="7589520" y="3794760"/>
            <a:ext cx="1325880" cy="320040"/>
          </a:xfrm>
          <a:prstGeom prst="rect">
            <a:avLst/>
          </a:prstGeom>
          <a:noFill/>
          <a:ln/>
        </p:spPr>
        <p:txBody>
          <a:bodyPr wrap="square" rtlCol="0" anchor="ctr"/>
          <a:lstStyle/>
          <a:p>
            <a:pPr marL="0" indent="0" algn="ctr">
              <a:buNone/>
            </a:pPr>
            <a:r>
              <a:rPr lang="en-US" sz="1000" b="1" dirty="0">
                <a:solidFill>
                  <a:srgbClr val="028090"/>
                </a:solidFill>
                <a:latin typeface="Calibri" pitchFamily="34" charset="0"/>
                <a:ea typeface="Calibri" pitchFamily="34" charset="-122"/>
                <a:cs typeface="Calibri" pitchFamily="34" charset="-120"/>
              </a:rPr>
              <a:t>Triggers</a:t>
            </a:r>
            <a:endParaRPr lang="en-US" sz="1000" dirty="0"/>
          </a:p>
        </p:txBody>
      </p:sp>
      <p:sp>
        <p:nvSpPr>
          <p:cNvPr id="33" name="Text 31"/>
          <p:cNvSpPr/>
          <p:nvPr/>
        </p:nvSpPr>
        <p:spPr>
          <a:xfrm>
            <a:off x="274320" y="4160520"/>
            <a:ext cx="822960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Technology Stack</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Database Schema — 6 Tables</a:t>
            </a:r>
            <a:endParaRPr lang="en-US" sz="3000" dirty="0"/>
          </a:p>
        </p:txBody>
      </p:sp>
      <p:sp>
        <p:nvSpPr>
          <p:cNvPr id="3" name="Shape 1"/>
          <p:cNvSpPr/>
          <p:nvPr/>
        </p:nvSpPr>
        <p:spPr>
          <a:xfrm>
            <a:off x="274320" y="822960"/>
            <a:ext cx="4206240" cy="12344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4" name="Shape 2"/>
          <p:cNvSpPr/>
          <p:nvPr/>
        </p:nvSpPr>
        <p:spPr>
          <a:xfrm>
            <a:off x="274320" y="822960"/>
            <a:ext cx="73152" cy="1234440"/>
          </a:xfrm>
          <a:prstGeom prst="rect">
            <a:avLst/>
          </a:prstGeom>
          <a:solidFill>
            <a:srgbClr val="028090"/>
          </a:solidFill>
          <a:ln w="12700">
            <a:solidFill>
              <a:srgbClr val="028090"/>
            </a:solidFill>
            <a:prstDash val="solid"/>
          </a:ln>
        </p:spPr>
        <p:txBody>
          <a:bodyPr/>
          <a:lstStyle/>
          <a:p>
            <a:endParaRPr lang="en-US"/>
          </a:p>
        </p:txBody>
      </p:sp>
      <p:sp>
        <p:nvSpPr>
          <p:cNvPr id="5" name="Text 3"/>
          <p:cNvSpPr/>
          <p:nvPr/>
        </p:nvSpPr>
        <p:spPr>
          <a:xfrm>
            <a:off x="438912" y="896112"/>
            <a:ext cx="3931920" cy="292608"/>
          </a:xfrm>
          <a:prstGeom prst="rect">
            <a:avLst/>
          </a:prstGeom>
          <a:noFill/>
          <a:ln/>
        </p:spPr>
        <p:txBody>
          <a:bodyPr wrap="square"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Customers</a:t>
            </a:r>
            <a:endParaRPr lang="en-US" sz="1500" dirty="0"/>
          </a:p>
        </p:txBody>
      </p:sp>
      <p:sp>
        <p:nvSpPr>
          <p:cNvPr id="6" name="Text 4"/>
          <p:cNvSpPr/>
          <p:nvPr/>
        </p:nvSpPr>
        <p:spPr>
          <a:xfrm>
            <a:off x="438912" y="1207008"/>
            <a:ext cx="3931920" cy="777240"/>
          </a:xfrm>
          <a:prstGeom prst="rect">
            <a:avLst/>
          </a:prstGeom>
          <a:noFill/>
          <a:ln/>
        </p:spPr>
        <p:txBody>
          <a:bodyPr wrap="square" rtlCol="0" anchor="ctr"/>
          <a:lstStyle/>
          <a:p>
            <a:pPr marL="0" indent="0">
              <a:lnSpc>
                <a:spcPct val="125000"/>
              </a:lnSpc>
              <a:buNone/>
            </a:pPr>
            <a:r>
              <a:rPr lang="en-US" sz="1050" dirty="0">
                <a:solidFill>
                  <a:srgbClr val="64748B"/>
                </a:solidFill>
                <a:latin typeface="Calibri" pitchFamily="34" charset="0"/>
                <a:ea typeface="Calibri" pitchFamily="34" charset="-122"/>
                <a:cs typeface="Calibri" pitchFamily="34" charset="-120"/>
              </a:rPr>
              <a:t>CustomerID (PK) · FirstName · LastName · Email · Phone · City · State · IsActive</a:t>
            </a:r>
            <a:endParaRPr lang="en-US" sz="1050" dirty="0"/>
          </a:p>
        </p:txBody>
      </p:sp>
      <p:sp>
        <p:nvSpPr>
          <p:cNvPr id="7" name="Shape 5"/>
          <p:cNvSpPr/>
          <p:nvPr/>
        </p:nvSpPr>
        <p:spPr>
          <a:xfrm>
            <a:off x="274320" y="2194560"/>
            <a:ext cx="4206240" cy="12344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8" name="Shape 6"/>
          <p:cNvSpPr/>
          <p:nvPr/>
        </p:nvSpPr>
        <p:spPr>
          <a:xfrm>
            <a:off x="274320" y="2194560"/>
            <a:ext cx="73152" cy="1234440"/>
          </a:xfrm>
          <a:prstGeom prst="rect">
            <a:avLst/>
          </a:prstGeom>
          <a:solidFill>
            <a:srgbClr val="1F4E79"/>
          </a:solidFill>
          <a:ln w="12700">
            <a:solidFill>
              <a:srgbClr val="1F4E79"/>
            </a:solidFill>
            <a:prstDash val="solid"/>
          </a:ln>
        </p:spPr>
        <p:txBody>
          <a:bodyPr/>
          <a:lstStyle/>
          <a:p>
            <a:endParaRPr lang="en-US"/>
          </a:p>
        </p:txBody>
      </p:sp>
      <p:sp>
        <p:nvSpPr>
          <p:cNvPr id="9" name="Text 7"/>
          <p:cNvSpPr/>
          <p:nvPr/>
        </p:nvSpPr>
        <p:spPr>
          <a:xfrm>
            <a:off x="438912" y="2267712"/>
            <a:ext cx="3931920" cy="292608"/>
          </a:xfrm>
          <a:prstGeom prst="rect">
            <a:avLst/>
          </a:prstGeom>
          <a:noFill/>
          <a:ln/>
        </p:spPr>
        <p:txBody>
          <a:bodyPr wrap="square" rtlCol="0" anchor="ctr"/>
          <a:lstStyle/>
          <a:p>
            <a:pPr marL="0" indent="0">
              <a:buNone/>
            </a:pPr>
            <a:r>
              <a:rPr lang="en-US" sz="1500" b="1" dirty="0">
                <a:solidFill>
                  <a:srgbClr val="1F4E79"/>
                </a:solidFill>
                <a:latin typeface="Calibri" pitchFamily="34" charset="0"/>
                <a:ea typeface="Calibri" pitchFamily="34" charset="-122"/>
                <a:cs typeface="Calibri" pitchFamily="34" charset="-120"/>
              </a:rPr>
              <a:t>Categories</a:t>
            </a:r>
            <a:endParaRPr lang="en-US" sz="1500" dirty="0"/>
          </a:p>
        </p:txBody>
      </p:sp>
      <p:sp>
        <p:nvSpPr>
          <p:cNvPr id="10" name="Text 8"/>
          <p:cNvSpPr/>
          <p:nvPr/>
        </p:nvSpPr>
        <p:spPr>
          <a:xfrm>
            <a:off x="438912" y="2578608"/>
            <a:ext cx="3931920" cy="777240"/>
          </a:xfrm>
          <a:prstGeom prst="rect">
            <a:avLst/>
          </a:prstGeom>
          <a:noFill/>
          <a:ln/>
        </p:spPr>
        <p:txBody>
          <a:bodyPr wrap="square" rtlCol="0" anchor="ctr"/>
          <a:lstStyle/>
          <a:p>
            <a:pPr marL="0" indent="0">
              <a:lnSpc>
                <a:spcPct val="125000"/>
              </a:lnSpc>
              <a:buNone/>
            </a:pPr>
            <a:r>
              <a:rPr lang="en-US" sz="1050" dirty="0">
                <a:solidFill>
                  <a:srgbClr val="64748B"/>
                </a:solidFill>
                <a:latin typeface="Calibri" pitchFamily="34" charset="0"/>
                <a:ea typeface="Calibri" pitchFamily="34" charset="-122"/>
                <a:cs typeface="Calibri" pitchFamily="34" charset="-120"/>
              </a:rPr>
              <a:t>CategoryID (PK) · CategoryName · Description · ParentCategoryID (FK, self-ref)</a:t>
            </a:r>
            <a:endParaRPr lang="en-US" sz="1050" dirty="0"/>
          </a:p>
        </p:txBody>
      </p:sp>
      <p:sp>
        <p:nvSpPr>
          <p:cNvPr id="11" name="Shape 9"/>
          <p:cNvSpPr/>
          <p:nvPr/>
        </p:nvSpPr>
        <p:spPr>
          <a:xfrm>
            <a:off x="274320" y="3566160"/>
            <a:ext cx="4206240" cy="12344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274320" y="3566160"/>
            <a:ext cx="73152" cy="1234440"/>
          </a:xfrm>
          <a:prstGeom prst="rect">
            <a:avLst/>
          </a:prstGeom>
          <a:solidFill>
            <a:srgbClr val="7C3AED"/>
          </a:solidFill>
          <a:ln w="12700">
            <a:solidFill>
              <a:srgbClr val="7C3AED"/>
            </a:solidFill>
            <a:prstDash val="solid"/>
          </a:ln>
        </p:spPr>
        <p:txBody>
          <a:bodyPr/>
          <a:lstStyle/>
          <a:p>
            <a:endParaRPr lang="en-US"/>
          </a:p>
        </p:txBody>
      </p:sp>
      <p:sp>
        <p:nvSpPr>
          <p:cNvPr id="13" name="Text 11"/>
          <p:cNvSpPr/>
          <p:nvPr/>
        </p:nvSpPr>
        <p:spPr>
          <a:xfrm>
            <a:off x="438912" y="3639312"/>
            <a:ext cx="3931920" cy="292608"/>
          </a:xfrm>
          <a:prstGeom prst="rect">
            <a:avLst/>
          </a:prstGeom>
          <a:noFill/>
          <a:ln/>
        </p:spPr>
        <p:txBody>
          <a:bodyPr wrap="square" rtlCol="0" anchor="ctr"/>
          <a:lstStyle/>
          <a:p>
            <a:pPr marL="0" indent="0">
              <a:buNone/>
            </a:pPr>
            <a:r>
              <a:rPr lang="en-US" sz="1500" b="1" dirty="0">
                <a:solidFill>
                  <a:srgbClr val="7C3AED"/>
                </a:solidFill>
                <a:latin typeface="Calibri" pitchFamily="34" charset="0"/>
                <a:ea typeface="Calibri" pitchFamily="34" charset="-122"/>
                <a:cs typeface="Calibri" pitchFamily="34" charset="-120"/>
              </a:rPr>
              <a:t>Products</a:t>
            </a:r>
            <a:endParaRPr lang="en-US" sz="1500" dirty="0"/>
          </a:p>
        </p:txBody>
      </p:sp>
      <p:sp>
        <p:nvSpPr>
          <p:cNvPr id="14" name="Text 12"/>
          <p:cNvSpPr/>
          <p:nvPr/>
        </p:nvSpPr>
        <p:spPr>
          <a:xfrm>
            <a:off x="438912" y="3950208"/>
            <a:ext cx="3931920" cy="777240"/>
          </a:xfrm>
          <a:prstGeom prst="rect">
            <a:avLst/>
          </a:prstGeom>
          <a:noFill/>
          <a:ln/>
        </p:spPr>
        <p:txBody>
          <a:bodyPr wrap="square" rtlCol="0" anchor="ctr"/>
          <a:lstStyle/>
          <a:p>
            <a:pPr marL="0" indent="0">
              <a:lnSpc>
                <a:spcPct val="125000"/>
              </a:lnSpc>
              <a:buNone/>
            </a:pPr>
            <a:r>
              <a:rPr lang="en-US" sz="1050" dirty="0">
                <a:solidFill>
                  <a:srgbClr val="64748B"/>
                </a:solidFill>
                <a:latin typeface="Calibri" pitchFamily="34" charset="0"/>
                <a:ea typeface="Calibri" pitchFamily="34" charset="-122"/>
                <a:cs typeface="Calibri" pitchFamily="34" charset="-120"/>
              </a:rPr>
              <a:t>ProductID (PK) · ProductName · CategoryID (FK) · Price · StockQty · SKU</a:t>
            </a:r>
            <a:endParaRPr lang="en-US" sz="1050" dirty="0"/>
          </a:p>
        </p:txBody>
      </p:sp>
      <p:sp>
        <p:nvSpPr>
          <p:cNvPr id="15" name="Shape 13"/>
          <p:cNvSpPr/>
          <p:nvPr/>
        </p:nvSpPr>
        <p:spPr>
          <a:xfrm>
            <a:off x="4709160" y="822960"/>
            <a:ext cx="4206240" cy="12344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4709160" y="822960"/>
            <a:ext cx="73152" cy="1234440"/>
          </a:xfrm>
          <a:prstGeom prst="rect">
            <a:avLst/>
          </a:prstGeom>
          <a:solidFill>
            <a:srgbClr val="E11D48"/>
          </a:solidFill>
          <a:ln w="12700">
            <a:solidFill>
              <a:srgbClr val="E11D48"/>
            </a:solidFill>
            <a:prstDash val="solid"/>
          </a:ln>
        </p:spPr>
        <p:txBody>
          <a:bodyPr/>
          <a:lstStyle/>
          <a:p>
            <a:endParaRPr lang="en-US"/>
          </a:p>
        </p:txBody>
      </p:sp>
      <p:sp>
        <p:nvSpPr>
          <p:cNvPr id="17" name="Text 15"/>
          <p:cNvSpPr/>
          <p:nvPr/>
        </p:nvSpPr>
        <p:spPr>
          <a:xfrm>
            <a:off x="4873752" y="896112"/>
            <a:ext cx="3931920" cy="292608"/>
          </a:xfrm>
          <a:prstGeom prst="rect">
            <a:avLst/>
          </a:prstGeom>
          <a:noFill/>
          <a:ln/>
        </p:spPr>
        <p:txBody>
          <a:bodyPr wrap="square" rtlCol="0" anchor="ctr"/>
          <a:lstStyle/>
          <a:p>
            <a:pPr marL="0" indent="0">
              <a:buNone/>
            </a:pPr>
            <a:r>
              <a:rPr lang="en-US" sz="1500" b="1" dirty="0">
                <a:solidFill>
                  <a:srgbClr val="E11D48"/>
                </a:solidFill>
                <a:latin typeface="Calibri" pitchFamily="34" charset="0"/>
                <a:ea typeface="Calibri" pitchFamily="34" charset="-122"/>
                <a:cs typeface="Calibri" pitchFamily="34" charset="-120"/>
              </a:rPr>
              <a:t>Orders</a:t>
            </a:r>
            <a:endParaRPr lang="en-US" sz="1500" dirty="0"/>
          </a:p>
        </p:txBody>
      </p:sp>
      <p:sp>
        <p:nvSpPr>
          <p:cNvPr id="18" name="Text 16"/>
          <p:cNvSpPr/>
          <p:nvPr/>
        </p:nvSpPr>
        <p:spPr>
          <a:xfrm>
            <a:off x="4873752" y="1207008"/>
            <a:ext cx="3931920" cy="777240"/>
          </a:xfrm>
          <a:prstGeom prst="rect">
            <a:avLst/>
          </a:prstGeom>
          <a:noFill/>
          <a:ln/>
        </p:spPr>
        <p:txBody>
          <a:bodyPr wrap="square" rtlCol="0" anchor="ctr"/>
          <a:lstStyle/>
          <a:p>
            <a:pPr marL="0" indent="0">
              <a:lnSpc>
                <a:spcPct val="125000"/>
              </a:lnSpc>
              <a:buNone/>
            </a:pPr>
            <a:r>
              <a:rPr lang="en-US" sz="1050" dirty="0">
                <a:solidFill>
                  <a:srgbClr val="64748B"/>
                </a:solidFill>
                <a:latin typeface="Calibri" pitchFamily="34" charset="0"/>
                <a:ea typeface="Calibri" pitchFamily="34" charset="-122"/>
                <a:cs typeface="Calibri" pitchFamily="34" charset="-120"/>
              </a:rPr>
              <a:t>OrderID (PK) · CustomerID (FK) · OrderDate · Status · TotalAmount</a:t>
            </a:r>
            <a:endParaRPr lang="en-US" sz="1050" dirty="0"/>
          </a:p>
        </p:txBody>
      </p:sp>
      <p:sp>
        <p:nvSpPr>
          <p:cNvPr id="19" name="Shape 17"/>
          <p:cNvSpPr/>
          <p:nvPr/>
        </p:nvSpPr>
        <p:spPr>
          <a:xfrm>
            <a:off x="4709160" y="2194560"/>
            <a:ext cx="4206240" cy="12344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20" name="Shape 18"/>
          <p:cNvSpPr/>
          <p:nvPr/>
        </p:nvSpPr>
        <p:spPr>
          <a:xfrm>
            <a:off x="4709160" y="2194560"/>
            <a:ext cx="73152" cy="1234440"/>
          </a:xfrm>
          <a:prstGeom prst="rect">
            <a:avLst/>
          </a:prstGeom>
          <a:solidFill>
            <a:srgbClr val="F59E0B"/>
          </a:solidFill>
          <a:ln w="12700">
            <a:solidFill>
              <a:srgbClr val="F59E0B"/>
            </a:solidFill>
            <a:prstDash val="solid"/>
          </a:ln>
        </p:spPr>
        <p:txBody>
          <a:bodyPr/>
          <a:lstStyle/>
          <a:p>
            <a:endParaRPr lang="en-US"/>
          </a:p>
        </p:txBody>
      </p:sp>
      <p:sp>
        <p:nvSpPr>
          <p:cNvPr id="21" name="Text 19"/>
          <p:cNvSpPr/>
          <p:nvPr/>
        </p:nvSpPr>
        <p:spPr>
          <a:xfrm>
            <a:off x="4873752" y="2267712"/>
            <a:ext cx="3931920" cy="292608"/>
          </a:xfrm>
          <a:prstGeom prst="rect">
            <a:avLst/>
          </a:prstGeom>
          <a:noFill/>
          <a:ln/>
        </p:spPr>
        <p:txBody>
          <a:bodyPr wrap="square" rtlCol="0" anchor="ctr"/>
          <a:lstStyle/>
          <a:p>
            <a:pPr marL="0" indent="0">
              <a:buNone/>
            </a:pPr>
            <a:r>
              <a:rPr lang="en-US" sz="1500" b="1" dirty="0">
                <a:solidFill>
                  <a:srgbClr val="F59E0B"/>
                </a:solidFill>
                <a:latin typeface="Calibri" pitchFamily="34" charset="0"/>
                <a:ea typeface="Calibri" pitchFamily="34" charset="-122"/>
                <a:cs typeface="Calibri" pitchFamily="34" charset="-120"/>
              </a:rPr>
              <a:t>OrderItems</a:t>
            </a:r>
            <a:endParaRPr lang="en-US" sz="1500" dirty="0"/>
          </a:p>
        </p:txBody>
      </p:sp>
      <p:sp>
        <p:nvSpPr>
          <p:cNvPr id="22" name="Text 20"/>
          <p:cNvSpPr/>
          <p:nvPr/>
        </p:nvSpPr>
        <p:spPr>
          <a:xfrm>
            <a:off x="4873752" y="2578608"/>
            <a:ext cx="3931920" cy="777240"/>
          </a:xfrm>
          <a:prstGeom prst="rect">
            <a:avLst/>
          </a:prstGeom>
          <a:noFill/>
          <a:ln/>
        </p:spPr>
        <p:txBody>
          <a:bodyPr wrap="square" rtlCol="0" anchor="ctr"/>
          <a:lstStyle/>
          <a:p>
            <a:pPr marL="0" indent="0">
              <a:lnSpc>
                <a:spcPct val="125000"/>
              </a:lnSpc>
              <a:buNone/>
            </a:pPr>
            <a:r>
              <a:rPr lang="en-US" sz="1050" dirty="0">
                <a:solidFill>
                  <a:srgbClr val="64748B"/>
                </a:solidFill>
                <a:latin typeface="Calibri" pitchFamily="34" charset="0"/>
                <a:ea typeface="Calibri" pitchFamily="34" charset="-122"/>
                <a:cs typeface="Calibri" pitchFamily="34" charset="-120"/>
              </a:rPr>
              <a:t>OrderItemID (PK) · OrderID (FK) · ProductID (FK) · Quantity · UnitPrice · Discount</a:t>
            </a:r>
            <a:endParaRPr lang="en-US" sz="1050" dirty="0"/>
          </a:p>
        </p:txBody>
      </p:sp>
      <p:sp>
        <p:nvSpPr>
          <p:cNvPr id="23" name="Shape 21"/>
          <p:cNvSpPr/>
          <p:nvPr/>
        </p:nvSpPr>
        <p:spPr>
          <a:xfrm>
            <a:off x="4709160" y="3566160"/>
            <a:ext cx="4206240" cy="12344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24" name="Shape 22"/>
          <p:cNvSpPr/>
          <p:nvPr/>
        </p:nvSpPr>
        <p:spPr>
          <a:xfrm>
            <a:off x="4709160" y="3566160"/>
            <a:ext cx="73152" cy="1234440"/>
          </a:xfrm>
          <a:prstGeom prst="rect">
            <a:avLst/>
          </a:prstGeom>
          <a:solidFill>
            <a:srgbClr val="059669"/>
          </a:solidFill>
          <a:ln w="12700">
            <a:solidFill>
              <a:srgbClr val="059669"/>
            </a:solidFill>
            <a:prstDash val="solid"/>
          </a:ln>
        </p:spPr>
        <p:txBody>
          <a:bodyPr/>
          <a:lstStyle/>
          <a:p>
            <a:endParaRPr lang="en-US"/>
          </a:p>
        </p:txBody>
      </p:sp>
      <p:sp>
        <p:nvSpPr>
          <p:cNvPr id="25" name="Text 23"/>
          <p:cNvSpPr/>
          <p:nvPr/>
        </p:nvSpPr>
        <p:spPr>
          <a:xfrm>
            <a:off x="4873752" y="3639312"/>
            <a:ext cx="3931920" cy="292608"/>
          </a:xfrm>
          <a:prstGeom prst="rect">
            <a:avLst/>
          </a:prstGeom>
          <a:noFill/>
          <a:ln/>
        </p:spPr>
        <p:txBody>
          <a:bodyPr wrap="square" rtlCol="0" anchor="ctr"/>
          <a:lstStyle/>
          <a:p>
            <a:pPr marL="0" indent="0">
              <a:buNone/>
            </a:pPr>
            <a:r>
              <a:rPr lang="en-US" sz="1500" b="1" dirty="0">
                <a:solidFill>
                  <a:srgbClr val="059669"/>
                </a:solidFill>
                <a:latin typeface="Calibri" pitchFamily="34" charset="0"/>
                <a:ea typeface="Calibri" pitchFamily="34" charset="-122"/>
                <a:cs typeface="Calibri" pitchFamily="34" charset="-120"/>
              </a:rPr>
              <a:t>Reviews</a:t>
            </a:r>
            <a:endParaRPr lang="en-US" sz="1500" dirty="0"/>
          </a:p>
        </p:txBody>
      </p:sp>
      <p:sp>
        <p:nvSpPr>
          <p:cNvPr id="26" name="Text 24"/>
          <p:cNvSpPr/>
          <p:nvPr/>
        </p:nvSpPr>
        <p:spPr>
          <a:xfrm>
            <a:off x="4873752" y="3950208"/>
            <a:ext cx="3931920" cy="777240"/>
          </a:xfrm>
          <a:prstGeom prst="rect">
            <a:avLst/>
          </a:prstGeom>
          <a:noFill/>
          <a:ln/>
        </p:spPr>
        <p:txBody>
          <a:bodyPr wrap="square" rtlCol="0" anchor="ctr"/>
          <a:lstStyle/>
          <a:p>
            <a:pPr marL="0" indent="0">
              <a:lnSpc>
                <a:spcPct val="125000"/>
              </a:lnSpc>
              <a:buNone/>
            </a:pPr>
            <a:r>
              <a:rPr lang="en-US" sz="1050" dirty="0">
                <a:solidFill>
                  <a:srgbClr val="64748B"/>
                </a:solidFill>
                <a:latin typeface="Calibri" pitchFamily="34" charset="0"/>
                <a:ea typeface="Calibri" pitchFamily="34" charset="-122"/>
                <a:cs typeface="Calibri" pitchFamily="34" charset="-120"/>
              </a:rPr>
              <a:t>ReviewID (PK) · ProductID (FK) · CustomerID (FK) · Rating · ReviewText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Entity-Relationship Diagram</a:t>
            </a:r>
            <a:endParaRPr lang="en-US" sz="3000" dirty="0"/>
          </a:p>
        </p:txBody>
      </p:sp>
      <p:sp>
        <p:nvSpPr>
          <p:cNvPr id="3" name="Shape 1"/>
          <p:cNvSpPr/>
          <p:nvPr/>
        </p:nvSpPr>
        <p:spPr>
          <a:xfrm>
            <a:off x="274320" y="868680"/>
            <a:ext cx="1737360" cy="384048"/>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274320" y="868680"/>
            <a:ext cx="173736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CUSTOMERS</a:t>
            </a:r>
            <a:endParaRPr lang="en-US" sz="1100" dirty="0"/>
          </a:p>
        </p:txBody>
      </p:sp>
      <p:sp>
        <p:nvSpPr>
          <p:cNvPr id="5" name="Text 3"/>
          <p:cNvSpPr/>
          <p:nvPr/>
        </p:nvSpPr>
        <p:spPr>
          <a:xfrm>
            <a:off x="2057400" y="868680"/>
            <a:ext cx="2286000" cy="384048"/>
          </a:xfrm>
          <a:prstGeom prst="rect">
            <a:avLst/>
          </a:prstGeom>
          <a:noFill/>
          <a:ln/>
        </p:spPr>
        <p:txBody>
          <a:bodyPr wrap="square" rtlCol="0" anchor="ctr"/>
          <a:lstStyle/>
          <a:p>
            <a:pPr marL="0" indent="0" algn="ctr">
              <a:buNone/>
            </a:pPr>
            <a:r>
              <a:rPr lang="en-US" sz="1200" dirty="0">
                <a:solidFill>
                  <a:srgbClr val="02C39A"/>
                </a:solidFill>
                <a:latin typeface="Calibri" pitchFamily="34" charset="0"/>
                <a:ea typeface="Calibri" pitchFamily="34" charset="-122"/>
                <a:cs typeface="Calibri" pitchFamily="34" charset="-120"/>
              </a:rPr>
              <a:t>1 ──────────────── ∞</a:t>
            </a:r>
            <a:endParaRPr lang="en-US" sz="1200" dirty="0"/>
          </a:p>
        </p:txBody>
      </p:sp>
      <p:sp>
        <p:nvSpPr>
          <p:cNvPr id="6" name="Shape 4"/>
          <p:cNvSpPr/>
          <p:nvPr/>
        </p:nvSpPr>
        <p:spPr>
          <a:xfrm>
            <a:off x="4389120" y="868680"/>
            <a:ext cx="1737360" cy="384048"/>
          </a:xfrm>
          <a:prstGeom prst="rect">
            <a:avLst/>
          </a:prstGeom>
          <a:solidFill>
            <a:srgbClr val="1F4E79"/>
          </a:solidFill>
          <a:ln w="12700">
            <a:solidFill>
              <a:srgbClr val="1F4E79"/>
            </a:solidFill>
            <a:prstDash val="solid"/>
          </a:ln>
        </p:spPr>
        <p:txBody>
          <a:bodyPr/>
          <a:lstStyle/>
          <a:p>
            <a:endParaRPr lang="en-US"/>
          </a:p>
        </p:txBody>
      </p:sp>
      <p:sp>
        <p:nvSpPr>
          <p:cNvPr id="7" name="Text 5"/>
          <p:cNvSpPr/>
          <p:nvPr/>
        </p:nvSpPr>
        <p:spPr>
          <a:xfrm>
            <a:off x="4389120" y="868680"/>
            <a:ext cx="173736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ORDERS</a:t>
            </a:r>
            <a:endParaRPr lang="en-US" sz="1100" dirty="0"/>
          </a:p>
        </p:txBody>
      </p:sp>
      <p:sp>
        <p:nvSpPr>
          <p:cNvPr id="8" name="Text 6"/>
          <p:cNvSpPr/>
          <p:nvPr/>
        </p:nvSpPr>
        <p:spPr>
          <a:xfrm>
            <a:off x="6217920" y="886968"/>
            <a:ext cx="2743200" cy="3657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One customer places many orders</a:t>
            </a:r>
            <a:endParaRPr lang="en-US" sz="1100" dirty="0"/>
          </a:p>
        </p:txBody>
      </p:sp>
      <p:sp>
        <p:nvSpPr>
          <p:cNvPr id="9" name="Shape 7"/>
          <p:cNvSpPr/>
          <p:nvPr/>
        </p:nvSpPr>
        <p:spPr>
          <a:xfrm>
            <a:off x="274320" y="1554480"/>
            <a:ext cx="1737360" cy="384048"/>
          </a:xfrm>
          <a:prstGeom prst="rect">
            <a:avLst/>
          </a:prstGeom>
          <a:solidFill>
            <a:srgbClr val="028090"/>
          </a:solidFill>
          <a:ln w="12700">
            <a:solidFill>
              <a:srgbClr val="028090"/>
            </a:solidFill>
            <a:prstDash val="solid"/>
          </a:ln>
        </p:spPr>
        <p:txBody>
          <a:bodyPr/>
          <a:lstStyle/>
          <a:p>
            <a:endParaRPr lang="en-US"/>
          </a:p>
        </p:txBody>
      </p:sp>
      <p:sp>
        <p:nvSpPr>
          <p:cNvPr id="10" name="Text 8"/>
          <p:cNvSpPr/>
          <p:nvPr/>
        </p:nvSpPr>
        <p:spPr>
          <a:xfrm>
            <a:off x="274320" y="1554480"/>
            <a:ext cx="173736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ORDERS</a:t>
            </a:r>
            <a:endParaRPr lang="en-US" sz="1100" dirty="0"/>
          </a:p>
        </p:txBody>
      </p:sp>
      <p:sp>
        <p:nvSpPr>
          <p:cNvPr id="11" name="Text 9"/>
          <p:cNvSpPr/>
          <p:nvPr/>
        </p:nvSpPr>
        <p:spPr>
          <a:xfrm>
            <a:off x="2057400" y="1554480"/>
            <a:ext cx="2286000" cy="384048"/>
          </a:xfrm>
          <a:prstGeom prst="rect">
            <a:avLst/>
          </a:prstGeom>
          <a:noFill/>
          <a:ln/>
        </p:spPr>
        <p:txBody>
          <a:bodyPr wrap="square" rtlCol="0" anchor="ctr"/>
          <a:lstStyle/>
          <a:p>
            <a:pPr marL="0" indent="0" algn="ctr">
              <a:buNone/>
            </a:pPr>
            <a:r>
              <a:rPr lang="en-US" sz="1200" dirty="0">
                <a:solidFill>
                  <a:srgbClr val="02C39A"/>
                </a:solidFill>
                <a:latin typeface="Calibri" pitchFamily="34" charset="0"/>
                <a:ea typeface="Calibri" pitchFamily="34" charset="-122"/>
                <a:cs typeface="Calibri" pitchFamily="34" charset="-120"/>
              </a:rPr>
              <a:t>1 ──────────────── ∞</a:t>
            </a:r>
            <a:endParaRPr lang="en-US" sz="1200" dirty="0"/>
          </a:p>
        </p:txBody>
      </p:sp>
      <p:sp>
        <p:nvSpPr>
          <p:cNvPr id="12" name="Shape 10"/>
          <p:cNvSpPr/>
          <p:nvPr/>
        </p:nvSpPr>
        <p:spPr>
          <a:xfrm>
            <a:off x="4389120" y="1554480"/>
            <a:ext cx="1737360" cy="384048"/>
          </a:xfrm>
          <a:prstGeom prst="rect">
            <a:avLst/>
          </a:prstGeom>
          <a:solidFill>
            <a:srgbClr val="1F4E79"/>
          </a:solidFill>
          <a:ln w="12700">
            <a:solidFill>
              <a:srgbClr val="1F4E79"/>
            </a:solidFill>
            <a:prstDash val="solid"/>
          </a:ln>
        </p:spPr>
        <p:txBody>
          <a:bodyPr/>
          <a:lstStyle/>
          <a:p>
            <a:endParaRPr lang="en-US"/>
          </a:p>
        </p:txBody>
      </p:sp>
      <p:sp>
        <p:nvSpPr>
          <p:cNvPr id="13" name="Text 11"/>
          <p:cNvSpPr/>
          <p:nvPr/>
        </p:nvSpPr>
        <p:spPr>
          <a:xfrm>
            <a:off x="4389120" y="1554480"/>
            <a:ext cx="173736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ORDERITEMS</a:t>
            </a:r>
            <a:endParaRPr lang="en-US" sz="1100" dirty="0"/>
          </a:p>
        </p:txBody>
      </p:sp>
      <p:sp>
        <p:nvSpPr>
          <p:cNvPr id="14" name="Text 12"/>
          <p:cNvSpPr/>
          <p:nvPr/>
        </p:nvSpPr>
        <p:spPr>
          <a:xfrm>
            <a:off x="6217920" y="1572768"/>
            <a:ext cx="2743200" cy="3657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One order contains many items</a:t>
            </a:r>
            <a:endParaRPr lang="en-US" sz="1100" dirty="0"/>
          </a:p>
        </p:txBody>
      </p:sp>
      <p:sp>
        <p:nvSpPr>
          <p:cNvPr id="15" name="Shape 13"/>
          <p:cNvSpPr/>
          <p:nvPr/>
        </p:nvSpPr>
        <p:spPr>
          <a:xfrm>
            <a:off x="274320" y="2240280"/>
            <a:ext cx="1737360" cy="384048"/>
          </a:xfrm>
          <a:prstGeom prst="rect">
            <a:avLst/>
          </a:prstGeom>
          <a:solidFill>
            <a:srgbClr val="028090"/>
          </a:solidFill>
          <a:ln w="12700">
            <a:solidFill>
              <a:srgbClr val="028090"/>
            </a:solidFill>
            <a:prstDash val="solid"/>
          </a:ln>
        </p:spPr>
        <p:txBody>
          <a:bodyPr/>
          <a:lstStyle/>
          <a:p>
            <a:endParaRPr lang="en-US"/>
          </a:p>
        </p:txBody>
      </p:sp>
      <p:sp>
        <p:nvSpPr>
          <p:cNvPr id="16" name="Text 14"/>
          <p:cNvSpPr/>
          <p:nvPr/>
        </p:nvSpPr>
        <p:spPr>
          <a:xfrm>
            <a:off x="274320" y="2240280"/>
            <a:ext cx="173736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PRODUCTS</a:t>
            </a:r>
            <a:endParaRPr lang="en-US" sz="1100" dirty="0"/>
          </a:p>
        </p:txBody>
      </p:sp>
      <p:sp>
        <p:nvSpPr>
          <p:cNvPr id="17" name="Text 15"/>
          <p:cNvSpPr/>
          <p:nvPr/>
        </p:nvSpPr>
        <p:spPr>
          <a:xfrm>
            <a:off x="2057400" y="2240280"/>
            <a:ext cx="2286000" cy="384048"/>
          </a:xfrm>
          <a:prstGeom prst="rect">
            <a:avLst/>
          </a:prstGeom>
          <a:noFill/>
          <a:ln/>
        </p:spPr>
        <p:txBody>
          <a:bodyPr wrap="square" rtlCol="0" anchor="ctr"/>
          <a:lstStyle/>
          <a:p>
            <a:pPr marL="0" indent="0" algn="ctr">
              <a:buNone/>
            </a:pPr>
            <a:r>
              <a:rPr lang="en-US" sz="1200" dirty="0">
                <a:solidFill>
                  <a:srgbClr val="02C39A"/>
                </a:solidFill>
                <a:latin typeface="Calibri" pitchFamily="34" charset="0"/>
                <a:ea typeface="Calibri" pitchFamily="34" charset="-122"/>
                <a:cs typeface="Calibri" pitchFamily="34" charset="-120"/>
              </a:rPr>
              <a:t>1 ──────────────── ∞</a:t>
            </a:r>
            <a:endParaRPr lang="en-US" sz="1200" dirty="0"/>
          </a:p>
        </p:txBody>
      </p:sp>
      <p:sp>
        <p:nvSpPr>
          <p:cNvPr id="18" name="Shape 16"/>
          <p:cNvSpPr/>
          <p:nvPr/>
        </p:nvSpPr>
        <p:spPr>
          <a:xfrm>
            <a:off x="4389120" y="2240280"/>
            <a:ext cx="1737360" cy="384048"/>
          </a:xfrm>
          <a:prstGeom prst="rect">
            <a:avLst/>
          </a:prstGeom>
          <a:solidFill>
            <a:srgbClr val="1F4E79"/>
          </a:solidFill>
          <a:ln w="12700">
            <a:solidFill>
              <a:srgbClr val="1F4E79"/>
            </a:solidFill>
            <a:prstDash val="solid"/>
          </a:ln>
        </p:spPr>
        <p:txBody>
          <a:bodyPr/>
          <a:lstStyle/>
          <a:p>
            <a:endParaRPr lang="en-US"/>
          </a:p>
        </p:txBody>
      </p:sp>
      <p:sp>
        <p:nvSpPr>
          <p:cNvPr id="19" name="Text 17"/>
          <p:cNvSpPr/>
          <p:nvPr/>
        </p:nvSpPr>
        <p:spPr>
          <a:xfrm>
            <a:off x="4389120" y="2240280"/>
            <a:ext cx="173736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ORDERITEMS</a:t>
            </a:r>
            <a:endParaRPr lang="en-US" sz="1100" dirty="0"/>
          </a:p>
        </p:txBody>
      </p:sp>
      <p:sp>
        <p:nvSpPr>
          <p:cNvPr id="20" name="Text 18"/>
          <p:cNvSpPr/>
          <p:nvPr/>
        </p:nvSpPr>
        <p:spPr>
          <a:xfrm>
            <a:off x="6217920" y="2258568"/>
            <a:ext cx="2743200" cy="3657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One product in many order items</a:t>
            </a:r>
            <a:endParaRPr lang="en-US" sz="1100" dirty="0"/>
          </a:p>
        </p:txBody>
      </p:sp>
      <p:sp>
        <p:nvSpPr>
          <p:cNvPr id="21" name="Shape 19"/>
          <p:cNvSpPr/>
          <p:nvPr/>
        </p:nvSpPr>
        <p:spPr>
          <a:xfrm>
            <a:off x="274320" y="2926080"/>
            <a:ext cx="1737360" cy="384048"/>
          </a:xfrm>
          <a:prstGeom prst="rect">
            <a:avLst/>
          </a:prstGeom>
          <a:solidFill>
            <a:srgbClr val="028090"/>
          </a:solidFill>
          <a:ln w="12700">
            <a:solidFill>
              <a:srgbClr val="028090"/>
            </a:solidFill>
            <a:prstDash val="solid"/>
          </a:ln>
        </p:spPr>
        <p:txBody>
          <a:bodyPr/>
          <a:lstStyle/>
          <a:p>
            <a:endParaRPr lang="en-US"/>
          </a:p>
        </p:txBody>
      </p:sp>
      <p:sp>
        <p:nvSpPr>
          <p:cNvPr id="22" name="Text 20"/>
          <p:cNvSpPr/>
          <p:nvPr/>
        </p:nvSpPr>
        <p:spPr>
          <a:xfrm>
            <a:off x="274320" y="2926080"/>
            <a:ext cx="173736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CATEGORIES</a:t>
            </a:r>
            <a:endParaRPr lang="en-US" sz="1100" dirty="0"/>
          </a:p>
        </p:txBody>
      </p:sp>
      <p:sp>
        <p:nvSpPr>
          <p:cNvPr id="23" name="Text 21"/>
          <p:cNvSpPr/>
          <p:nvPr/>
        </p:nvSpPr>
        <p:spPr>
          <a:xfrm>
            <a:off x="2057400" y="2926080"/>
            <a:ext cx="2286000" cy="384048"/>
          </a:xfrm>
          <a:prstGeom prst="rect">
            <a:avLst/>
          </a:prstGeom>
          <a:noFill/>
          <a:ln/>
        </p:spPr>
        <p:txBody>
          <a:bodyPr wrap="square" rtlCol="0" anchor="ctr"/>
          <a:lstStyle/>
          <a:p>
            <a:pPr marL="0" indent="0" algn="ctr">
              <a:buNone/>
            </a:pPr>
            <a:r>
              <a:rPr lang="en-US" sz="1200" dirty="0">
                <a:solidFill>
                  <a:srgbClr val="02C39A"/>
                </a:solidFill>
                <a:latin typeface="Calibri" pitchFamily="34" charset="0"/>
                <a:ea typeface="Calibri" pitchFamily="34" charset="-122"/>
                <a:cs typeface="Calibri" pitchFamily="34" charset="-120"/>
              </a:rPr>
              <a:t>1 ──────────────── ∞</a:t>
            </a:r>
            <a:endParaRPr lang="en-US" sz="1200" dirty="0"/>
          </a:p>
        </p:txBody>
      </p:sp>
      <p:sp>
        <p:nvSpPr>
          <p:cNvPr id="24" name="Shape 22"/>
          <p:cNvSpPr/>
          <p:nvPr/>
        </p:nvSpPr>
        <p:spPr>
          <a:xfrm>
            <a:off x="4389120" y="2926080"/>
            <a:ext cx="1737360" cy="384048"/>
          </a:xfrm>
          <a:prstGeom prst="rect">
            <a:avLst/>
          </a:prstGeom>
          <a:solidFill>
            <a:srgbClr val="1F4E79"/>
          </a:solidFill>
          <a:ln w="12700">
            <a:solidFill>
              <a:srgbClr val="1F4E79"/>
            </a:solidFill>
            <a:prstDash val="solid"/>
          </a:ln>
        </p:spPr>
        <p:txBody>
          <a:bodyPr/>
          <a:lstStyle/>
          <a:p>
            <a:endParaRPr lang="en-US"/>
          </a:p>
        </p:txBody>
      </p:sp>
      <p:sp>
        <p:nvSpPr>
          <p:cNvPr id="25" name="Text 23"/>
          <p:cNvSpPr/>
          <p:nvPr/>
        </p:nvSpPr>
        <p:spPr>
          <a:xfrm>
            <a:off x="4389120" y="2926080"/>
            <a:ext cx="173736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PRODUCTS</a:t>
            </a:r>
            <a:endParaRPr lang="en-US" sz="1100" dirty="0"/>
          </a:p>
        </p:txBody>
      </p:sp>
      <p:sp>
        <p:nvSpPr>
          <p:cNvPr id="26" name="Text 24"/>
          <p:cNvSpPr/>
          <p:nvPr/>
        </p:nvSpPr>
        <p:spPr>
          <a:xfrm>
            <a:off x="6217920" y="2944368"/>
            <a:ext cx="2743200" cy="3657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One category groups many products</a:t>
            </a:r>
            <a:endParaRPr lang="en-US" sz="1100" dirty="0"/>
          </a:p>
        </p:txBody>
      </p:sp>
      <p:sp>
        <p:nvSpPr>
          <p:cNvPr id="27" name="Shape 25"/>
          <p:cNvSpPr/>
          <p:nvPr/>
        </p:nvSpPr>
        <p:spPr>
          <a:xfrm>
            <a:off x="274320" y="3611880"/>
            <a:ext cx="1737360" cy="384048"/>
          </a:xfrm>
          <a:prstGeom prst="rect">
            <a:avLst/>
          </a:prstGeom>
          <a:solidFill>
            <a:srgbClr val="028090"/>
          </a:solidFill>
          <a:ln w="12700">
            <a:solidFill>
              <a:srgbClr val="028090"/>
            </a:solidFill>
            <a:prstDash val="solid"/>
          </a:ln>
        </p:spPr>
        <p:txBody>
          <a:bodyPr/>
          <a:lstStyle/>
          <a:p>
            <a:endParaRPr lang="en-US"/>
          </a:p>
        </p:txBody>
      </p:sp>
      <p:sp>
        <p:nvSpPr>
          <p:cNvPr id="28" name="Text 26"/>
          <p:cNvSpPr/>
          <p:nvPr/>
        </p:nvSpPr>
        <p:spPr>
          <a:xfrm>
            <a:off x="274320" y="3611880"/>
            <a:ext cx="173736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CUSTOMERS</a:t>
            </a:r>
            <a:endParaRPr lang="en-US" sz="1100" dirty="0"/>
          </a:p>
        </p:txBody>
      </p:sp>
      <p:sp>
        <p:nvSpPr>
          <p:cNvPr id="29" name="Text 27"/>
          <p:cNvSpPr/>
          <p:nvPr/>
        </p:nvSpPr>
        <p:spPr>
          <a:xfrm>
            <a:off x="2057400" y="3611880"/>
            <a:ext cx="2286000" cy="384048"/>
          </a:xfrm>
          <a:prstGeom prst="rect">
            <a:avLst/>
          </a:prstGeom>
          <a:noFill/>
          <a:ln/>
        </p:spPr>
        <p:txBody>
          <a:bodyPr wrap="square" rtlCol="0" anchor="ctr"/>
          <a:lstStyle/>
          <a:p>
            <a:pPr marL="0" indent="0" algn="ctr">
              <a:buNone/>
            </a:pPr>
            <a:r>
              <a:rPr lang="en-US" sz="1200" dirty="0">
                <a:solidFill>
                  <a:srgbClr val="02C39A"/>
                </a:solidFill>
                <a:latin typeface="Calibri" pitchFamily="34" charset="0"/>
                <a:ea typeface="Calibri" pitchFamily="34" charset="-122"/>
                <a:cs typeface="Calibri" pitchFamily="34" charset="-120"/>
              </a:rPr>
              <a:t>1 ──────────────── ∞</a:t>
            </a:r>
            <a:endParaRPr lang="en-US" sz="1200" dirty="0"/>
          </a:p>
        </p:txBody>
      </p:sp>
      <p:sp>
        <p:nvSpPr>
          <p:cNvPr id="30" name="Shape 28"/>
          <p:cNvSpPr/>
          <p:nvPr/>
        </p:nvSpPr>
        <p:spPr>
          <a:xfrm>
            <a:off x="4389120" y="3611880"/>
            <a:ext cx="1737360" cy="384048"/>
          </a:xfrm>
          <a:prstGeom prst="rect">
            <a:avLst/>
          </a:prstGeom>
          <a:solidFill>
            <a:srgbClr val="1F4E79"/>
          </a:solidFill>
          <a:ln w="12700">
            <a:solidFill>
              <a:srgbClr val="1F4E79"/>
            </a:solidFill>
            <a:prstDash val="solid"/>
          </a:ln>
        </p:spPr>
        <p:txBody>
          <a:bodyPr/>
          <a:lstStyle/>
          <a:p>
            <a:endParaRPr lang="en-US"/>
          </a:p>
        </p:txBody>
      </p:sp>
      <p:sp>
        <p:nvSpPr>
          <p:cNvPr id="31" name="Text 29"/>
          <p:cNvSpPr/>
          <p:nvPr/>
        </p:nvSpPr>
        <p:spPr>
          <a:xfrm>
            <a:off x="4389120" y="3611880"/>
            <a:ext cx="173736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REVIEWS</a:t>
            </a:r>
            <a:endParaRPr lang="en-US" sz="1100" dirty="0"/>
          </a:p>
        </p:txBody>
      </p:sp>
      <p:sp>
        <p:nvSpPr>
          <p:cNvPr id="32" name="Text 30"/>
          <p:cNvSpPr/>
          <p:nvPr/>
        </p:nvSpPr>
        <p:spPr>
          <a:xfrm>
            <a:off x="6217920" y="3630168"/>
            <a:ext cx="2743200" cy="3657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One customer writes many reviews</a:t>
            </a:r>
            <a:endParaRPr lang="en-US" sz="1100" dirty="0"/>
          </a:p>
        </p:txBody>
      </p:sp>
      <p:sp>
        <p:nvSpPr>
          <p:cNvPr id="33" name="Shape 31"/>
          <p:cNvSpPr/>
          <p:nvPr/>
        </p:nvSpPr>
        <p:spPr>
          <a:xfrm>
            <a:off x="274320" y="4297680"/>
            <a:ext cx="1737360" cy="384048"/>
          </a:xfrm>
          <a:prstGeom prst="rect">
            <a:avLst/>
          </a:prstGeom>
          <a:solidFill>
            <a:srgbClr val="028090"/>
          </a:solidFill>
          <a:ln w="12700">
            <a:solidFill>
              <a:srgbClr val="028090"/>
            </a:solidFill>
            <a:prstDash val="solid"/>
          </a:ln>
        </p:spPr>
        <p:txBody>
          <a:bodyPr/>
          <a:lstStyle/>
          <a:p>
            <a:endParaRPr lang="en-US"/>
          </a:p>
        </p:txBody>
      </p:sp>
      <p:sp>
        <p:nvSpPr>
          <p:cNvPr id="34" name="Text 32"/>
          <p:cNvSpPr/>
          <p:nvPr/>
        </p:nvSpPr>
        <p:spPr>
          <a:xfrm>
            <a:off x="274320" y="4297680"/>
            <a:ext cx="173736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PRODUCTS</a:t>
            </a:r>
            <a:endParaRPr lang="en-US" sz="1100" dirty="0"/>
          </a:p>
        </p:txBody>
      </p:sp>
      <p:sp>
        <p:nvSpPr>
          <p:cNvPr id="35" name="Text 33"/>
          <p:cNvSpPr/>
          <p:nvPr/>
        </p:nvSpPr>
        <p:spPr>
          <a:xfrm>
            <a:off x="2057400" y="4297680"/>
            <a:ext cx="2286000" cy="384048"/>
          </a:xfrm>
          <a:prstGeom prst="rect">
            <a:avLst/>
          </a:prstGeom>
          <a:noFill/>
          <a:ln/>
        </p:spPr>
        <p:txBody>
          <a:bodyPr wrap="square" rtlCol="0" anchor="ctr"/>
          <a:lstStyle/>
          <a:p>
            <a:pPr marL="0" indent="0" algn="ctr">
              <a:buNone/>
            </a:pPr>
            <a:r>
              <a:rPr lang="en-US" sz="1200" dirty="0">
                <a:solidFill>
                  <a:srgbClr val="02C39A"/>
                </a:solidFill>
                <a:latin typeface="Calibri" pitchFamily="34" charset="0"/>
                <a:ea typeface="Calibri" pitchFamily="34" charset="-122"/>
                <a:cs typeface="Calibri" pitchFamily="34" charset="-120"/>
              </a:rPr>
              <a:t>1 ──────────────── ∞</a:t>
            </a:r>
            <a:endParaRPr lang="en-US" sz="1200" dirty="0"/>
          </a:p>
        </p:txBody>
      </p:sp>
      <p:sp>
        <p:nvSpPr>
          <p:cNvPr id="36" name="Shape 34"/>
          <p:cNvSpPr/>
          <p:nvPr/>
        </p:nvSpPr>
        <p:spPr>
          <a:xfrm>
            <a:off x="4389120" y="4297680"/>
            <a:ext cx="1737360" cy="384048"/>
          </a:xfrm>
          <a:prstGeom prst="rect">
            <a:avLst/>
          </a:prstGeom>
          <a:solidFill>
            <a:srgbClr val="1F4E79"/>
          </a:solidFill>
          <a:ln w="12700">
            <a:solidFill>
              <a:srgbClr val="1F4E79"/>
            </a:solidFill>
            <a:prstDash val="solid"/>
          </a:ln>
        </p:spPr>
        <p:txBody>
          <a:bodyPr/>
          <a:lstStyle/>
          <a:p>
            <a:endParaRPr lang="en-US"/>
          </a:p>
        </p:txBody>
      </p:sp>
      <p:sp>
        <p:nvSpPr>
          <p:cNvPr id="37" name="Text 35"/>
          <p:cNvSpPr/>
          <p:nvPr/>
        </p:nvSpPr>
        <p:spPr>
          <a:xfrm>
            <a:off x="4389120" y="4297680"/>
            <a:ext cx="173736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REVIEWS</a:t>
            </a:r>
            <a:endParaRPr lang="en-US" sz="1100" dirty="0"/>
          </a:p>
        </p:txBody>
      </p:sp>
      <p:sp>
        <p:nvSpPr>
          <p:cNvPr id="38" name="Text 36"/>
          <p:cNvSpPr/>
          <p:nvPr/>
        </p:nvSpPr>
        <p:spPr>
          <a:xfrm>
            <a:off x="6217920" y="4315968"/>
            <a:ext cx="2743200" cy="3657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One product receives many reviews</a:t>
            </a:r>
            <a:endParaRPr lang="en-US" sz="1100" dirty="0"/>
          </a:p>
        </p:txBody>
      </p:sp>
      <p:sp>
        <p:nvSpPr>
          <p:cNvPr id="39" name="Shape 37"/>
          <p:cNvSpPr/>
          <p:nvPr/>
        </p:nvSpPr>
        <p:spPr>
          <a:xfrm>
            <a:off x="274320" y="4617720"/>
            <a:ext cx="8595360" cy="347472"/>
          </a:xfrm>
          <a:prstGeom prst="rect">
            <a:avLst/>
          </a:prstGeom>
          <a:solidFill>
            <a:srgbClr val="FFFFFF">
              <a:alpha val="12000"/>
            </a:srgbClr>
          </a:solidFill>
          <a:ln w="12700">
            <a:solidFill>
              <a:srgbClr val="FFFFFF">
                <a:alpha val="30000"/>
              </a:srgbClr>
            </a:solidFill>
            <a:prstDash val="solid"/>
          </a:ln>
        </p:spPr>
        <p:txBody>
          <a:bodyPr/>
          <a:lstStyle/>
          <a:p>
            <a:endParaRPr lang="en-US"/>
          </a:p>
        </p:txBody>
      </p:sp>
      <p:sp>
        <p:nvSpPr>
          <p:cNvPr id="40" name="Text 38"/>
          <p:cNvSpPr/>
          <p:nvPr/>
        </p:nvSpPr>
        <p:spPr>
          <a:xfrm>
            <a:off x="365760" y="4636008"/>
            <a:ext cx="8412480"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All tables enforce: PRIMARY KEY · FOREIGN KEY · NOT NULL · UNIQUE · CHECK constraints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Views — Business Reporting Layer</a:t>
            </a:r>
            <a:endParaRPr lang="en-US" sz="3000" dirty="0"/>
          </a:p>
        </p:txBody>
      </p:sp>
      <p:sp>
        <p:nvSpPr>
          <p:cNvPr id="3" name="Shape 1"/>
          <p:cNvSpPr/>
          <p:nvPr/>
        </p:nvSpPr>
        <p:spPr>
          <a:xfrm>
            <a:off x="274320" y="868680"/>
            <a:ext cx="8595360" cy="1298448"/>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4" name="Shape 2"/>
          <p:cNvSpPr/>
          <p:nvPr/>
        </p:nvSpPr>
        <p:spPr>
          <a:xfrm>
            <a:off x="274320" y="868680"/>
            <a:ext cx="8595360" cy="109728"/>
          </a:xfrm>
          <a:prstGeom prst="rect">
            <a:avLst/>
          </a:prstGeom>
          <a:solidFill>
            <a:srgbClr val="028090"/>
          </a:solidFill>
          <a:ln w="12700">
            <a:solidFill>
              <a:srgbClr val="028090"/>
            </a:solidFill>
            <a:prstDash val="solid"/>
          </a:ln>
        </p:spPr>
        <p:txBody>
          <a:bodyPr/>
          <a:lstStyle/>
          <a:p>
            <a:endParaRPr lang="en-US"/>
          </a:p>
        </p:txBody>
      </p:sp>
      <p:sp>
        <p:nvSpPr>
          <p:cNvPr id="5" name="Text 3"/>
          <p:cNvSpPr/>
          <p:nvPr/>
        </p:nvSpPr>
        <p:spPr>
          <a:xfrm>
            <a:off x="411480" y="1005840"/>
            <a:ext cx="8229600" cy="292608"/>
          </a:xfrm>
          <a:prstGeom prst="rect">
            <a:avLst/>
          </a:prstGeom>
          <a:noFill/>
          <a:ln/>
        </p:spPr>
        <p:txBody>
          <a:bodyPr wrap="square" rtlCol="0" anchor="ctr"/>
          <a:lstStyle/>
          <a:p>
            <a:pPr marL="0" indent="0">
              <a:buNone/>
            </a:pPr>
            <a:r>
              <a:rPr lang="en-US" sz="1400" b="1" dirty="0">
                <a:solidFill>
                  <a:srgbClr val="028090"/>
                </a:solidFill>
                <a:latin typeface="Calibri" pitchFamily="34" charset="0"/>
                <a:ea typeface="Calibri" pitchFamily="34" charset="-122"/>
                <a:cs typeface="Calibri" pitchFamily="34" charset="-120"/>
              </a:rPr>
              <a:t>vw_CustomerOrderSummary</a:t>
            </a:r>
            <a:endParaRPr lang="en-US" sz="1400" dirty="0"/>
          </a:p>
        </p:txBody>
      </p:sp>
      <p:sp>
        <p:nvSpPr>
          <p:cNvPr id="6" name="Text 4"/>
          <p:cNvSpPr/>
          <p:nvPr/>
        </p:nvSpPr>
        <p:spPr>
          <a:xfrm>
            <a:off x="411480" y="1307592"/>
            <a:ext cx="8229600" cy="274320"/>
          </a:xfrm>
          <a:prstGeom prst="rect">
            <a:avLst/>
          </a:prstGeom>
          <a:noFill/>
          <a:ln/>
        </p:spPr>
        <p:txBody>
          <a:bodyPr wrap="square" rtlCol="0" anchor="ctr"/>
          <a:lstStyle/>
          <a:p>
            <a:pPr marL="0" indent="0">
              <a:buNone/>
            </a:pPr>
            <a:r>
              <a:rPr lang="en-US" sz="1200" dirty="0">
                <a:solidFill>
                  <a:srgbClr val="0D1B2A"/>
                </a:solidFill>
                <a:latin typeface="Calibri" pitchFamily="34" charset="0"/>
                <a:ea typeface="Calibri" pitchFamily="34" charset="-122"/>
                <a:cs typeface="Calibri" pitchFamily="34" charset="-120"/>
              </a:rPr>
              <a:t>Aggregates each customer's total orders, total amount spent, and last order date.</a:t>
            </a:r>
            <a:endParaRPr lang="en-US" sz="1200" dirty="0"/>
          </a:p>
        </p:txBody>
      </p:sp>
      <p:sp>
        <p:nvSpPr>
          <p:cNvPr id="7" name="Text 5"/>
          <p:cNvSpPr/>
          <p:nvPr/>
        </p:nvSpPr>
        <p:spPr>
          <a:xfrm>
            <a:off x="411480" y="1581912"/>
            <a:ext cx="8229600" cy="219456"/>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Columns: CustomerName · Email · TotalOrders · TotalSpent · LastOrderDate</a:t>
            </a:r>
            <a:endParaRPr lang="en-US" sz="1100" dirty="0"/>
          </a:p>
        </p:txBody>
      </p:sp>
      <p:sp>
        <p:nvSpPr>
          <p:cNvPr id="8" name="Text 6"/>
          <p:cNvSpPr/>
          <p:nvPr/>
        </p:nvSpPr>
        <p:spPr>
          <a:xfrm>
            <a:off x="411480" y="1819656"/>
            <a:ext cx="8229600" cy="219456"/>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Used for: Customer loyalty analysis &amp; tier classification</a:t>
            </a:r>
            <a:endParaRPr lang="en-US" sz="1100" dirty="0"/>
          </a:p>
        </p:txBody>
      </p:sp>
      <p:sp>
        <p:nvSpPr>
          <p:cNvPr id="9" name="Shape 7"/>
          <p:cNvSpPr/>
          <p:nvPr/>
        </p:nvSpPr>
        <p:spPr>
          <a:xfrm>
            <a:off x="274320" y="2286000"/>
            <a:ext cx="8595360" cy="1298448"/>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274320" y="2286000"/>
            <a:ext cx="8595360" cy="109728"/>
          </a:xfrm>
          <a:prstGeom prst="rect">
            <a:avLst/>
          </a:prstGeom>
          <a:solidFill>
            <a:srgbClr val="1F4E79"/>
          </a:solidFill>
          <a:ln w="12700">
            <a:solidFill>
              <a:srgbClr val="1F4E79"/>
            </a:solidFill>
            <a:prstDash val="solid"/>
          </a:ln>
        </p:spPr>
        <p:txBody>
          <a:bodyPr/>
          <a:lstStyle/>
          <a:p>
            <a:endParaRPr lang="en-US"/>
          </a:p>
        </p:txBody>
      </p:sp>
      <p:sp>
        <p:nvSpPr>
          <p:cNvPr id="11" name="Text 9"/>
          <p:cNvSpPr/>
          <p:nvPr/>
        </p:nvSpPr>
        <p:spPr>
          <a:xfrm>
            <a:off x="411480" y="2423160"/>
            <a:ext cx="8229600" cy="292608"/>
          </a:xfrm>
          <a:prstGeom prst="rect">
            <a:avLst/>
          </a:prstGeom>
          <a:noFill/>
          <a:ln/>
        </p:spPr>
        <p:txBody>
          <a:bodyPr wrap="square" rtlCol="0" anchor="ctr"/>
          <a:lstStyle/>
          <a:p>
            <a:pPr marL="0" indent="0">
              <a:buNone/>
            </a:pPr>
            <a:r>
              <a:rPr lang="en-US" sz="1400" b="1" dirty="0">
                <a:solidFill>
                  <a:srgbClr val="1F4E79"/>
                </a:solidFill>
                <a:latin typeface="Calibri" pitchFamily="34" charset="0"/>
                <a:ea typeface="Calibri" pitchFamily="34" charset="-122"/>
                <a:cs typeface="Calibri" pitchFamily="34" charset="-120"/>
              </a:rPr>
              <a:t>vw_ProductSalesPerformance</a:t>
            </a:r>
            <a:endParaRPr lang="en-US" sz="1400" dirty="0"/>
          </a:p>
        </p:txBody>
      </p:sp>
      <p:sp>
        <p:nvSpPr>
          <p:cNvPr id="12" name="Text 10"/>
          <p:cNvSpPr/>
          <p:nvPr/>
        </p:nvSpPr>
        <p:spPr>
          <a:xfrm>
            <a:off x="411480" y="2724912"/>
            <a:ext cx="8229600" cy="274320"/>
          </a:xfrm>
          <a:prstGeom prst="rect">
            <a:avLst/>
          </a:prstGeom>
          <a:noFill/>
          <a:ln/>
        </p:spPr>
        <p:txBody>
          <a:bodyPr wrap="square" rtlCol="0" anchor="ctr"/>
          <a:lstStyle/>
          <a:p>
            <a:pPr marL="0" indent="0">
              <a:buNone/>
            </a:pPr>
            <a:r>
              <a:rPr lang="en-US" sz="1200" dirty="0">
                <a:solidFill>
                  <a:srgbClr val="0D1B2A"/>
                </a:solidFill>
                <a:latin typeface="Calibri" pitchFamily="34" charset="0"/>
                <a:ea typeface="Calibri" pitchFamily="34" charset="-122"/>
                <a:cs typeface="Calibri" pitchFamily="34" charset="-120"/>
              </a:rPr>
              <a:t>Joins Products, Categories, OrderItems &amp; Reviews to show sales volume, revenue, and average rating per product.</a:t>
            </a:r>
            <a:endParaRPr lang="en-US" sz="1200" dirty="0"/>
          </a:p>
        </p:txBody>
      </p:sp>
      <p:sp>
        <p:nvSpPr>
          <p:cNvPr id="13" name="Text 11"/>
          <p:cNvSpPr/>
          <p:nvPr/>
        </p:nvSpPr>
        <p:spPr>
          <a:xfrm>
            <a:off x="411480" y="2999232"/>
            <a:ext cx="8229600" cy="219456"/>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Columns: ProductName · CategoryName · TotalUnitsSold · TotalRevenue · AvgRating</a:t>
            </a:r>
            <a:endParaRPr lang="en-US" sz="1100" dirty="0"/>
          </a:p>
        </p:txBody>
      </p:sp>
      <p:sp>
        <p:nvSpPr>
          <p:cNvPr id="14" name="Text 12"/>
          <p:cNvSpPr/>
          <p:nvPr/>
        </p:nvSpPr>
        <p:spPr>
          <a:xfrm>
            <a:off x="411480" y="3236976"/>
            <a:ext cx="8229600" cy="219456"/>
          </a:xfrm>
          <a:prstGeom prst="rect">
            <a:avLst/>
          </a:prstGeom>
          <a:noFill/>
          <a:ln/>
        </p:spPr>
        <p:txBody>
          <a:bodyPr wrap="square" rtlCol="0" anchor="ctr"/>
          <a:lstStyle/>
          <a:p>
            <a:pPr marL="0" indent="0">
              <a:buNone/>
            </a:pPr>
            <a:r>
              <a:rPr lang="en-US" sz="1100" b="1" dirty="0">
                <a:solidFill>
                  <a:srgbClr val="1F4E79"/>
                </a:solidFill>
                <a:latin typeface="Calibri" pitchFamily="34" charset="0"/>
                <a:ea typeface="Calibri" pitchFamily="34" charset="-122"/>
                <a:cs typeface="Calibri" pitchFamily="34" charset="-120"/>
              </a:rPr>
              <a:t>Used for: Product performance dashboards &amp; inventory decisions</a:t>
            </a:r>
            <a:endParaRPr lang="en-US" sz="1100" dirty="0"/>
          </a:p>
        </p:txBody>
      </p:sp>
      <p:sp>
        <p:nvSpPr>
          <p:cNvPr id="15" name="Shape 13"/>
          <p:cNvSpPr/>
          <p:nvPr/>
        </p:nvSpPr>
        <p:spPr>
          <a:xfrm>
            <a:off x="274320" y="3703320"/>
            <a:ext cx="8595360" cy="1298448"/>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274320" y="3703320"/>
            <a:ext cx="8595360" cy="109728"/>
          </a:xfrm>
          <a:prstGeom prst="rect">
            <a:avLst/>
          </a:prstGeom>
          <a:solidFill>
            <a:srgbClr val="7C3AED"/>
          </a:solidFill>
          <a:ln w="12700">
            <a:solidFill>
              <a:srgbClr val="7C3AED"/>
            </a:solidFill>
            <a:prstDash val="solid"/>
          </a:ln>
        </p:spPr>
        <p:txBody>
          <a:bodyPr/>
          <a:lstStyle/>
          <a:p>
            <a:endParaRPr lang="en-US"/>
          </a:p>
        </p:txBody>
      </p:sp>
      <p:sp>
        <p:nvSpPr>
          <p:cNvPr id="17" name="Text 15"/>
          <p:cNvSpPr/>
          <p:nvPr/>
        </p:nvSpPr>
        <p:spPr>
          <a:xfrm>
            <a:off x="411480" y="3840480"/>
            <a:ext cx="8229600" cy="292608"/>
          </a:xfrm>
          <a:prstGeom prst="rect">
            <a:avLst/>
          </a:prstGeom>
          <a:noFill/>
          <a:ln/>
        </p:spPr>
        <p:txBody>
          <a:bodyPr wrap="square" rtlCol="0" anchor="ctr"/>
          <a:lstStyle/>
          <a:p>
            <a:pPr marL="0" indent="0">
              <a:buNone/>
            </a:pPr>
            <a:r>
              <a:rPr lang="en-US" sz="1400" b="1" dirty="0">
                <a:solidFill>
                  <a:srgbClr val="7C3AED"/>
                </a:solidFill>
                <a:latin typeface="Calibri" pitchFamily="34" charset="0"/>
                <a:ea typeface="Calibri" pitchFamily="34" charset="-122"/>
                <a:cs typeface="Calibri" pitchFamily="34" charset="-120"/>
              </a:rPr>
              <a:t>vw_OrderDetailReport</a:t>
            </a:r>
            <a:endParaRPr lang="en-US" sz="1400" dirty="0"/>
          </a:p>
        </p:txBody>
      </p:sp>
      <p:sp>
        <p:nvSpPr>
          <p:cNvPr id="18" name="Text 16"/>
          <p:cNvSpPr/>
          <p:nvPr/>
        </p:nvSpPr>
        <p:spPr>
          <a:xfrm>
            <a:off x="411480" y="4142232"/>
            <a:ext cx="8229600" cy="274320"/>
          </a:xfrm>
          <a:prstGeom prst="rect">
            <a:avLst/>
          </a:prstGeom>
          <a:noFill/>
          <a:ln/>
        </p:spPr>
        <p:txBody>
          <a:bodyPr wrap="square" rtlCol="0" anchor="ctr"/>
          <a:lstStyle/>
          <a:p>
            <a:pPr marL="0" indent="0">
              <a:buNone/>
            </a:pPr>
            <a:r>
              <a:rPr lang="en-US" sz="1200" dirty="0">
                <a:solidFill>
                  <a:srgbClr val="0D1B2A"/>
                </a:solidFill>
                <a:latin typeface="Calibri" pitchFamily="34" charset="0"/>
                <a:ea typeface="Calibri" pitchFamily="34" charset="-122"/>
                <a:cs typeface="Calibri" pitchFamily="34" charset="-120"/>
              </a:rPr>
              <a:t>Provides a full line-item breakdown of every order with discount-adjusted totals.</a:t>
            </a:r>
            <a:endParaRPr lang="en-US" sz="1200" dirty="0"/>
          </a:p>
        </p:txBody>
      </p:sp>
      <p:sp>
        <p:nvSpPr>
          <p:cNvPr id="19" name="Text 17"/>
          <p:cNvSpPr/>
          <p:nvPr/>
        </p:nvSpPr>
        <p:spPr>
          <a:xfrm>
            <a:off x="411480" y="4416552"/>
            <a:ext cx="8229600" cy="219456"/>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Columns: OrderID · OrderDate · Status · CustomerName · ProductName · Quantity · LineTotal</a:t>
            </a:r>
            <a:endParaRPr lang="en-US" sz="1100" dirty="0"/>
          </a:p>
        </p:txBody>
      </p:sp>
      <p:sp>
        <p:nvSpPr>
          <p:cNvPr id="20" name="Text 18"/>
          <p:cNvSpPr/>
          <p:nvPr/>
        </p:nvSpPr>
        <p:spPr>
          <a:xfrm>
            <a:off x="411480" y="4654296"/>
            <a:ext cx="8229600" cy="219456"/>
          </a:xfrm>
          <a:prstGeom prst="rect">
            <a:avLst/>
          </a:prstGeom>
          <a:noFill/>
          <a:ln/>
        </p:spPr>
        <p:txBody>
          <a:bodyPr wrap="square" rtlCol="0" anchor="ctr"/>
          <a:lstStyle/>
          <a:p>
            <a:pPr marL="0" indent="0">
              <a:buNone/>
            </a:pPr>
            <a:r>
              <a:rPr lang="en-US" sz="1100" b="1" dirty="0">
                <a:solidFill>
                  <a:srgbClr val="7C3AED"/>
                </a:solidFill>
                <a:latin typeface="Calibri" pitchFamily="34" charset="0"/>
                <a:ea typeface="Calibri" pitchFamily="34" charset="-122"/>
                <a:cs typeface="Calibri" pitchFamily="34" charset="-120"/>
              </a:rPr>
              <a:t>Used for: Order auditing, invoicing &amp; customer service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Stored Procedures — Core Business Logic</a:t>
            </a:r>
            <a:endParaRPr lang="en-US" sz="2800" dirty="0"/>
          </a:p>
        </p:txBody>
      </p:sp>
      <p:sp>
        <p:nvSpPr>
          <p:cNvPr id="3" name="Shape 1"/>
          <p:cNvSpPr/>
          <p:nvPr/>
        </p:nvSpPr>
        <p:spPr>
          <a:xfrm>
            <a:off x="274320" y="841248"/>
            <a:ext cx="8595360" cy="1298448"/>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4" name="Shape 2"/>
          <p:cNvSpPr/>
          <p:nvPr/>
        </p:nvSpPr>
        <p:spPr>
          <a:xfrm>
            <a:off x="274320" y="841248"/>
            <a:ext cx="91440" cy="1298448"/>
          </a:xfrm>
          <a:prstGeom prst="rect">
            <a:avLst/>
          </a:prstGeom>
          <a:solidFill>
            <a:srgbClr val="028090"/>
          </a:solidFill>
          <a:ln w="12700">
            <a:solidFill>
              <a:srgbClr val="028090"/>
            </a:solidFill>
            <a:prstDash val="solid"/>
          </a:ln>
        </p:spPr>
        <p:txBody>
          <a:bodyPr/>
          <a:lstStyle/>
          <a:p>
            <a:endParaRPr lang="en-US"/>
          </a:p>
        </p:txBody>
      </p:sp>
      <p:sp>
        <p:nvSpPr>
          <p:cNvPr id="5" name="Shape 3"/>
          <p:cNvSpPr/>
          <p:nvPr/>
        </p:nvSpPr>
        <p:spPr>
          <a:xfrm>
            <a:off x="457200" y="877824"/>
            <a:ext cx="347472" cy="347472"/>
          </a:xfrm>
          <a:prstGeom prst="ellipse">
            <a:avLst/>
          </a:prstGeom>
          <a:solidFill>
            <a:srgbClr val="028090"/>
          </a:solidFill>
          <a:ln w="12700">
            <a:solidFill>
              <a:srgbClr val="028090"/>
            </a:solidFill>
            <a:prstDash val="solid"/>
          </a:ln>
        </p:spPr>
        <p:txBody>
          <a:bodyPr/>
          <a:lstStyle/>
          <a:p>
            <a:endParaRPr lang="en-US"/>
          </a:p>
        </p:txBody>
      </p:sp>
      <p:sp>
        <p:nvSpPr>
          <p:cNvPr id="6" name="Text 4"/>
          <p:cNvSpPr/>
          <p:nvPr/>
        </p:nvSpPr>
        <p:spPr>
          <a:xfrm>
            <a:off x="457200" y="877824"/>
            <a:ext cx="347472" cy="3474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960120" y="914400"/>
            <a:ext cx="7772400" cy="292608"/>
          </a:xfrm>
          <a:prstGeom prst="rect">
            <a:avLst/>
          </a:prstGeom>
          <a:noFill/>
          <a:ln/>
        </p:spPr>
        <p:txBody>
          <a:bodyPr wrap="square"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sp_PlaceOrder</a:t>
            </a:r>
            <a:endParaRPr lang="en-US" sz="1500" dirty="0"/>
          </a:p>
        </p:txBody>
      </p:sp>
      <p:sp>
        <p:nvSpPr>
          <p:cNvPr id="8" name="Shape 6"/>
          <p:cNvSpPr/>
          <p:nvPr/>
        </p:nvSpPr>
        <p:spPr>
          <a:xfrm>
            <a:off x="960120" y="1225296"/>
            <a:ext cx="7772400" cy="237744"/>
          </a:xfrm>
          <a:prstGeom prst="rect">
            <a:avLst/>
          </a:prstGeom>
          <a:solidFill>
            <a:srgbClr val="EBF3FB"/>
          </a:solidFill>
          <a:ln w="12700">
            <a:solidFill>
              <a:srgbClr val="EBF3FB"/>
            </a:solidFill>
            <a:prstDash val="solid"/>
          </a:ln>
        </p:spPr>
        <p:txBody>
          <a:bodyPr/>
          <a:lstStyle/>
          <a:p>
            <a:endParaRPr lang="en-US"/>
          </a:p>
        </p:txBody>
      </p:sp>
      <p:sp>
        <p:nvSpPr>
          <p:cNvPr id="9" name="Text 7"/>
          <p:cNvSpPr/>
          <p:nvPr/>
        </p:nvSpPr>
        <p:spPr>
          <a:xfrm>
            <a:off x="1005840" y="1243584"/>
            <a:ext cx="7680960" cy="219456"/>
          </a:xfrm>
          <a:prstGeom prst="rect">
            <a:avLst/>
          </a:prstGeom>
          <a:noFill/>
          <a:ln/>
        </p:spPr>
        <p:txBody>
          <a:bodyPr wrap="square" rtlCol="0" anchor="ctr"/>
          <a:lstStyle/>
          <a:p>
            <a:pPr marL="0" indent="0">
              <a:buNone/>
            </a:pPr>
            <a:r>
              <a:rPr lang="en-US" sz="1100" b="1" dirty="0">
                <a:solidFill>
                  <a:srgbClr val="1F4E79"/>
                </a:solidFill>
                <a:latin typeface="Calibri" pitchFamily="34" charset="0"/>
                <a:ea typeface="Calibri" pitchFamily="34" charset="-122"/>
                <a:cs typeface="Calibri" pitchFamily="34" charset="-120"/>
              </a:rPr>
              <a:t>Parameters: IN: CustomerID, ProductID, Quantity  |  OUT: NewOrderID</a:t>
            </a:r>
            <a:endParaRPr lang="en-US" sz="1100" dirty="0"/>
          </a:p>
        </p:txBody>
      </p:sp>
      <p:sp>
        <p:nvSpPr>
          <p:cNvPr id="10" name="Text 8"/>
          <p:cNvSpPr/>
          <p:nvPr/>
        </p:nvSpPr>
        <p:spPr>
          <a:xfrm>
            <a:off x="960120" y="1517904"/>
            <a:ext cx="7772400" cy="548640"/>
          </a:xfrm>
          <a:prstGeom prst="rect">
            <a:avLst/>
          </a:prstGeom>
          <a:noFill/>
          <a:ln/>
        </p:spPr>
        <p:txBody>
          <a:bodyPr wrap="square" rtlCol="0" anchor="ctr"/>
          <a:lstStyle/>
          <a:p>
            <a:pPr marL="0" indent="0">
              <a:lnSpc>
                <a:spcPct val="125000"/>
              </a:lnSpc>
              <a:buNone/>
            </a:pPr>
            <a:r>
              <a:rPr lang="en-US" sz="1200" dirty="0">
                <a:solidFill>
                  <a:srgbClr val="0D1B2A"/>
                </a:solidFill>
                <a:latin typeface="Calibri" pitchFamily="34" charset="0"/>
                <a:ea typeface="Calibri" pitchFamily="34" charset="-122"/>
                <a:cs typeface="Calibri" pitchFamily="34" charset="-120"/>
              </a:rPr>
              <a:t>Validates stock availability, creates an Order record, inserts an OrderItem, and decrements inventory — all in one atomic transaction.</a:t>
            </a:r>
            <a:endParaRPr lang="en-US" sz="1200" dirty="0"/>
          </a:p>
        </p:txBody>
      </p:sp>
      <p:sp>
        <p:nvSpPr>
          <p:cNvPr id="11" name="Shape 9"/>
          <p:cNvSpPr/>
          <p:nvPr/>
        </p:nvSpPr>
        <p:spPr>
          <a:xfrm>
            <a:off x="274320" y="2258568"/>
            <a:ext cx="8595360" cy="1298448"/>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274320" y="2258568"/>
            <a:ext cx="91440" cy="1298448"/>
          </a:xfrm>
          <a:prstGeom prst="rect">
            <a:avLst/>
          </a:prstGeom>
          <a:solidFill>
            <a:srgbClr val="1F4E79"/>
          </a:solidFill>
          <a:ln w="12700">
            <a:solidFill>
              <a:srgbClr val="1F4E79"/>
            </a:solidFill>
            <a:prstDash val="solid"/>
          </a:ln>
        </p:spPr>
        <p:txBody>
          <a:bodyPr/>
          <a:lstStyle/>
          <a:p>
            <a:endParaRPr lang="en-US"/>
          </a:p>
        </p:txBody>
      </p:sp>
      <p:sp>
        <p:nvSpPr>
          <p:cNvPr id="13" name="Shape 11"/>
          <p:cNvSpPr/>
          <p:nvPr/>
        </p:nvSpPr>
        <p:spPr>
          <a:xfrm>
            <a:off x="457200" y="2295144"/>
            <a:ext cx="347472" cy="347472"/>
          </a:xfrm>
          <a:prstGeom prst="ellipse">
            <a:avLst/>
          </a:prstGeom>
          <a:solidFill>
            <a:srgbClr val="1F4E79"/>
          </a:solidFill>
          <a:ln w="12700">
            <a:solidFill>
              <a:srgbClr val="1F4E79"/>
            </a:solidFill>
            <a:prstDash val="solid"/>
          </a:ln>
        </p:spPr>
        <p:txBody>
          <a:bodyPr/>
          <a:lstStyle/>
          <a:p>
            <a:endParaRPr lang="en-US"/>
          </a:p>
        </p:txBody>
      </p:sp>
      <p:sp>
        <p:nvSpPr>
          <p:cNvPr id="14" name="Text 12"/>
          <p:cNvSpPr/>
          <p:nvPr/>
        </p:nvSpPr>
        <p:spPr>
          <a:xfrm>
            <a:off x="457200" y="2295144"/>
            <a:ext cx="347472" cy="3474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960120" y="2331720"/>
            <a:ext cx="7772400" cy="292608"/>
          </a:xfrm>
          <a:prstGeom prst="rect">
            <a:avLst/>
          </a:prstGeom>
          <a:noFill/>
          <a:ln/>
        </p:spPr>
        <p:txBody>
          <a:bodyPr wrap="square" rtlCol="0" anchor="ctr"/>
          <a:lstStyle/>
          <a:p>
            <a:pPr marL="0" indent="0">
              <a:buNone/>
            </a:pPr>
            <a:r>
              <a:rPr lang="en-US" sz="1500" b="1" dirty="0">
                <a:solidFill>
                  <a:srgbClr val="1F4E79"/>
                </a:solidFill>
                <a:latin typeface="Calibri" pitchFamily="34" charset="0"/>
                <a:ea typeface="Calibri" pitchFamily="34" charset="-122"/>
                <a:cs typeface="Calibri" pitchFamily="34" charset="-120"/>
              </a:rPr>
              <a:t>sp_GetCustomerOrders</a:t>
            </a:r>
            <a:endParaRPr lang="en-US" sz="1500" dirty="0"/>
          </a:p>
        </p:txBody>
      </p:sp>
      <p:sp>
        <p:nvSpPr>
          <p:cNvPr id="16" name="Shape 14"/>
          <p:cNvSpPr/>
          <p:nvPr/>
        </p:nvSpPr>
        <p:spPr>
          <a:xfrm>
            <a:off x="960120" y="2642616"/>
            <a:ext cx="7772400" cy="237744"/>
          </a:xfrm>
          <a:prstGeom prst="rect">
            <a:avLst/>
          </a:prstGeom>
          <a:solidFill>
            <a:srgbClr val="EBF3FB"/>
          </a:solidFill>
          <a:ln w="12700">
            <a:solidFill>
              <a:srgbClr val="EBF3FB"/>
            </a:solidFill>
            <a:prstDash val="solid"/>
          </a:ln>
        </p:spPr>
        <p:txBody>
          <a:bodyPr/>
          <a:lstStyle/>
          <a:p>
            <a:endParaRPr lang="en-US"/>
          </a:p>
        </p:txBody>
      </p:sp>
      <p:sp>
        <p:nvSpPr>
          <p:cNvPr id="17" name="Text 15"/>
          <p:cNvSpPr/>
          <p:nvPr/>
        </p:nvSpPr>
        <p:spPr>
          <a:xfrm>
            <a:off x="1005840" y="2660904"/>
            <a:ext cx="7680960" cy="219456"/>
          </a:xfrm>
          <a:prstGeom prst="rect">
            <a:avLst/>
          </a:prstGeom>
          <a:noFill/>
          <a:ln/>
        </p:spPr>
        <p:txBody>
          <a:bodyPr wrap="square" rtlCol="0" anchor="ctr"/>
          <a:lstStyle/>
          <a:p>
            <a:pPr marL="0" indent="0">
              <a:buNone/>
            </a:pPr>
            <a:r>
              <a:rPr lang="en-US" sz="1100" b="1" dirty="0">
                <a:solidFill>
                  <a:srgbClr val="1F4E79"/>
                </a:solidFill>
                <a:latin typeface="Calibri" pitchFamily="34" charset="0"/>
                <a:ea typeface="Calibri" pitchFamily="34" charset="-122"/>
                <a:cs typeface="Calibri" pitchFamily="34" charset="-120"/>
              </a:rPr>
              <a:t>Parameters: IN: CustomerID  |  OUT: OrderCount, TotalSpent</a:t>
            </a:r>
            <a:endParaRPr lang="en-US" sz="1100" dirty="0"/>
          </a:p>
        </p:txBody>
      </p:sp>
      <p:sp>
        <p:nvSpPr>
          <p:cNvPr id="18" name="Text 16"/>
          <p:cNvSpPr/>
          <p:nvPr/>
        </p:nvSpPr>
        <p:spPr>
          <a:xfrm>
            <a:off x="960120" y="2935224"/>
            <a:ext cx="7772400" cy="548640"/>
          </a:xfrm>
          <a:prstGeom prst="rect">
            <a:avLst/>
          </a:prstGeom>
          <a:noFill/>
          <a:ln/>
        </p:spPr>
        <p:txBody>
          <a:bodyPr wrap="square" rtlCol="0" anchor="ctr"/>
          <a:lstStyle/>
          <a:p>
            <a:pPr marL="0" indent="0">
              <a:lnSpc>
                <a:spcPct val="125000"/>
              </a:lnSpc>
              <a:buNone/>
            </a:pPr>
            <a:r>
              <a:rPr lang="en-US" sz="1200" dirty="0">
                <a:solidFill>
                  <a:srgbClr val="0D1B2A"/>
                </a:solidFill>
                <a:latin typeface="Calibri" pitchFamily="34" charset="0"/>
                <a:ea typeface="Calibri" pitchFamily="34" charset="-122"/>
                <a:cs typeface="Calibri" pitchFamily="34" charset="-120"/>
              </a:rPr>
              <a:t>Retrieves a customer's complete order history with product details, and returns aggregate output parameters for total orders and total amount spent.</a:t>
            </a:r>
            <a:endParaRPr lang="en-US" sz="1200" dirty="0"/>
          </a:p>
        </p:txBody>
      </p:sp>
      <p:sp>
        <p:nvSpPr>
          <p:cNvPr id="19" name="Shape 17"/>
          <p:cNvSpPr/>
          <p:nvPr/>
        </p:nvSpPr>
        <p:spPr>
          <a:xfrm>
            <a:off x="274320" y="3675888"/>
            <a:ext cx="8595360" cy="1298448"/>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20" name="Shape 18"/>
          <p:cNvSpPr/>
          <p:nvPr/>
        </p:nvSpPr>
        <p:spPr>
          <a:xfrm>
            <a:off x="274320" y="3675888"/>
            <a:ext cx="91440" cy="1298448"/>
          </a:xfrm>
          <a:prstGeom prst="rect">
            <a:avLst/>
          </a:prstGeom>
          <a:solidFill>
            <a:srgbClr val="7C3AED"/>
          </a:solidFill>
          <a:ln w="12700">
            <a:solidFill>
              <a:srgbClr val="7C3AED"/>
            </a:solidFill>
            <a:prstDash val="solid"/>
          </a:ln>
        </p:spPr>
        <p:txBody>
          <a:bodyPr/>
          <a:lstStyle/>
          <a:p>
            <a:endParaRPr lang="en-US"/>
          </a:p>
        </p:txBody>
      </p:sp>
      <p:sp>
        <p:nvSpPr>
          <p:cNvPr id="21" name="Shape 19"/>
          <p:cNvSpPr/>
          <p:nvPr/>
        </p:nvSpPr>
        <p:spPr>
          <a:xfrm>
            <a:off x="457200" y="3712464"/>
            <a:ext cx="347472" cy="347472"/>
          </a:xfrm>
          <a:prstGeom prst="ellipse">
            <a:avLst/>
          </a:prstGeom>
          <a:solidFill>
            <a:srgbClr val="7C3AED"/>
          </a:solidFill>
          <a:ln w="12700">
            <a:solidFill>
              <a:srgbClr val="7C3AED"/>
            </a:solidFill>
            <a:prstDash val="solid"/>
          </a:ln>
        </p:spPr>
        <p:txBody>
          <a:bodyPr/>
          <a:lstStyle/>
          <a:p>
            <a:endParaRPr lang="en-US"/>
          </a:p>
        </p:txBody>
      </p:sp>
      <p:sp>
        <p:nvSpPr>
          <p:cNvPr id="22" name="Text 20"/>
          <p:cNvSpPr/>
          <p:nvPr/>
        </p:nvSpPr>
        <p:spPr>
          <a:xfrm>
            <a:off x="457200" y="3712464"/>
            <a:ext cx="347472" cy="3474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Text 21"/>
          <p:cNvSpPr/>
          <p:nvPr/>
        </p:nvSpPr>
        <p:spPr>
          <a:xfrm>
            <a:off x="960120" y="3749040"/>
            <a:ext cx="7772400" cy="292608"/>
          </a:xfrm>
          <a:prstGeom prst="rect">
            <a:avLst/>
          </a:prstGeom>
          <a:noFill/>
          <a:ln/>
        </p:spPr>
        <p:txBody>
          <a:bodyPr wrap="square" rtlCol="0" anchor="ctr"/>
          <a:lstStyle/>
          <a:p>
            <a:pPr marL="0" indent="0">
              <a:buNone/>
            </a:pPr>
            <a:r>
              <a:rPr lang="en-US" sz="1500" b="1" dirty="0">
                <a:solidFill>
                  <a:srgbClr val="7C3AED"/>
                </a:solidFill>
                <a:latin typeface="Calibri" pitchFamily="34" charset="0"/>
                <a:ea typeface="Calibri" pitchFamily="34" charset="-122"/>
                <a:cs typeface="Calibri" pitchFamily="34" charset="-120"/>
              </a:rPr>
              <a:t>sp_UpdateOrderStatus</a:t>
            </a:r>
            <a:endParaRPr lang="en-US" sz="1500" dirty="0"/>
          </a:p>
        </p:txBody>
      </p:sp>
      <p:sp>
        <p:nvSpPr>
          <p:cNvPr id="24" name="Shape 22"/>
          <p:cNvSpPr/>
          <p:nvPr/>
        </p:nvSpPr>
        <p:spPr>
          <a:xfrm>
            <a:off x="960120" y="4059936"/>
            <a:ext cx="7772400" cy="237744"/>
          </a:xfrm>
          <a:prstGeom prst="rect">
            <a:avLst/>
          </a:prstGeom>
          <a:solidFill>
            <a:srgbClr val="EBF3FB"/>
          </a:solidFill>
          <a:ln w="12700">
            <a:solidFill>
              <a:srgbClr val="EBF3FB"/>
            </a:solidFill>
            <a:prstDash val="solid"/>
          </a:ln>
        </p:spPr>
        <p:txBody>
          <a:bodyPr/>
          <a:lstStyle/>
          <a:p>
            <a:endParaRPr lang="en-US"/>
          </a:p>
        </p:txBody>
      </p:sp>
      <p:sp>
        <p:nvSpPr>
          <p:cNvPr id="25" name="Text 23"/>
          <p:cNvSpPr/>
          <p:nvPr/>
        </p:nvSpPr>
        <p:spPr>
          <a:xfrm>
            <a:off x="1005840" y="4078224"/>
            <a:ext cx="7680960" cy="219456"/>
          </a:xfrm>
          <a:prstGeom prst="rect">
            <a:avLst/>
          </a:prstGeom>
          <a:noFill/>
          <a:ln/>
        </p:spPr>
        <p:txBody>
          <a:bodyPr wrap="square" rtlCol="0" anchor="ctr"/>
          <a:lstStyle/>
          <a:p>
            <a:pPr marL="0" indent="0">
              <a:buNone/>
            </a:pPr>
            <a:r>
              <a:rPr lang="en-US" sz="1100" b="1" dirty="0">
                <a:solidFill>
                  <a:srgbClr val="1F4E79"/>
                </a:solidFill>
                <a:latin typeface="Calibri" pitchFamily="34" charset="0"/>
                <a:ea typeface="Calibri" pitchFamily="34" charset="-122"/>
                <a:cs typeface="Calibri" pitchFamily="34" charset="-120"/>
              </a:rPr>
              <a:t>Parameters: IN: OrderID, NewStatus  |  OUT: Success (bit)</a:t>
            </a:r>
            <a:endParaRPr lang="en-US" sz="1100" dirty="0"/>
          </a:p>
        </p:txBody>
      </p:sp>
      <p:sp>
        <p:nvSpPr>
          <p:cNvPr id="26" name="Text 24"/>
          <p:cNvSpPr/>
          <p:nvPr/>
        </p:nvSpPr>
        <p:spPr>
          <a:xfrm>
            <a:off x="960120" y="4352544"/>
            <a:ext cx="7772400" cy="548640"/>
          </a:xfrm>
          <a:prstGeom prst="rect">
            <a:avLst/>
          </a:prstGeom>
          <a:noFill/>
          <a:ln/>
        </p:spPr>
        <p:txBody>
          <a:bodyPr wrap="square" rtlCol="0" anchor="ctr"/>
          <a:lstStyle/>
          <a:p>
            <a:pPr marL="0" indent="0">
              <a:lnSpc>
                <a:spcPct val="125000"/>
              </a:lnSpc>
              <a:buNone/>
            </a:pPr>
            <a:r>
              <a:rPr lang="en-US" sz="1200" dirty="0">
                <a:solidFill>
                  <a:srgbClr val="0D1B2A"/>
                </a:solidFill>
                <a:latin typeface="Calibri" pitchFamily="34" charset="0"/>
                <a:ea typeface="Calibri" pitchFamily="34" charset="-122"/>
                <a:cs typeface="Calibri" pitchFamily="34" charset="-120"/>
              </a:rPr>
              <a:t>Validates the new status against allowed values (Pending, Processing, Shipped, Delivered, Cancelled), updates the record, and returns 1 on success.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User-Defined Functions — Reusable Logic</a:t>
            </a:r>
            <a:endParaRPr lang="en-US" sz="2800" dirty="0"/>
          </a:p>
        </p:txBody>
      </p:sp>
      <p:sp>
        <p:nvSpPr>
          <p:cNvPr id="3" name="Shape 1"/>
          <p:cNvSpPr/>
          <p:nvPr/>
        </p:nvSpPr>
        <p:spPr>
          <a:xfrm>
            <a:off x="274320" y="841248"/>
            <a:ext cx="8595360" cy="1298448"/>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4" name="Shape 2"/>
          <p:cNvSpPr/>
          <p:nvPr/>
        </p:nvSpPr>
        <p:spPr>
          <a:xfrm>
            <a:off x="274320" y="841248"/>
            <a:ext cx="8595360" cy="73152"/>
          </a:xfrm>
          <a:prstGeom prst="rect">
            <a:avLst/>
          </a:prstGeom>
          <a:solidFill>
            <a:srgbClr val="028090"/>
          </a:solidFill>
          <a:ln w="12700">
            <a:solidFill>
              <a:srgbClr val="028090"/>
            </a:solidFill>
            <a:prstDash val="solid"/>
          </a:ln>
        </p:spPr>
        <p:txBody>
          <a:bodyPr/>
          <a:lstStyle/>
          <a:p>
            <a:endParaRPr lang="en-US"/>
          </a:p>
        </p:txBody>
      </p:sp>
      <p:sp>
        <p:nvSpPr>
          <p:cNvPr id="5" name="Text 3"/>
          <p:cNvSpPr/>
          <p:nvPr/>
        </p:nvSpPr>
        <p:spPr>
          <a:xfrm>
            <a:off x="411480" y="950976"/>
            <a:ext cx="5029200" cy="274320"/>
          </a:xfrm>
          <a:prstGeom prst="rect">
            <a:avLst/>
          </a:prstGeom>
          <a:noFill/>
          <a:ln/>
        </p:spPr>
        <p:txBody>
          <a:bodyPr wrap="square" rtlCol="0" anchor="ctr"/>
          <a:lstStyle/>
          <a:p>
            <a:pPr marL="0" indent="0">
              <a:buNone/>
            </a:pPr>
            <a:r>
              <a:rPr lang="en-US" sz="1400" b="1" dirty="0">
                <a:solidFill>
                  <a:srgbClr val="028090"/>
                </a:solidFill>
                <a:latin typeface="Calibri" pitchFamily="34" charset="0"/>
                <a:ea typeface="Calibri" pitchFamily="34" charset="-122"/>
                <a:cs typeface="Calibri" pitchFamily="34" charset="-120"/>
              </a:rPr>
              <a:t>fn_GetDiscountedPrice</a:t>
            </a:r>
            <a:endParaRPr lang="en-US" sz="1400" dirty="0"/>
          </a:p>
        </p:txBody>
      </p:sp>
      <p:sp>
        <p:nvSpPr>
          <p:cNvPr id="6" name="Text 4"/>
          <p:cNvSpPr/>
          <p:nvPr/>
        </p:nvSpPr>
        <p:spPr>
          <a:xfrm>
            <a:off x="411480" y="1243584"/>
            <a:ext cx="8229600" cy="219456"/>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IN: ProductID, DiscountPct (%)   RETURNS: DECIMAL(10,2) — discounted price</a:t>
            </a:r>
            <a:endParaRPr lang="en-US" sz="1100" dirty="0"/>
          </a:p>
        </p:txBody>
      </p:sp>
      <p:sp>
        <p:nvSpPr>
          <p:cNvPr id="7" name="Shape 5"/>
          <p:cNvSpPr/>
          <p:nvPr/>
        </p:nvSpPr>
        <p:spPr>
          <a:xfrm>
            <a:off x="411480" y="1481328"/>
            <a:ext cx="8229600" cy="237744"/>
          </a:xfrm>
          <a:prstGeom prst="rect">
            <a:avLst/>
          </a:prstGeom>
          <a:solidFill>
            <a:srgbClr val="EBF3FB"/>
          </a:solidFill>
          <a:ln w="12700">
            <a:solidFill>
              <a:srgbClr val="EBF3FB"/>
            </a:solidFill>
            <a:prstDash val="solid"/>
          </a:ln>
        </p:spPr>
        <p:txBody>
          <a:bodyPr/>
          <a:lstStyle/>
          <a:p>
            <a:endParaRPr lang="en-US"/>
          </a:p>
        </p:txBody>
      </p:sp>
      <p:sp>
        <p:nvSpPr>
          <p:cNvPr id="8" name="Text 6"/>
          <p:cNvSpPr/>
          <p:nvPr/>
        </p:nvSpPr>
        <p:spPr>
          <a:xfrm>
            <a:off x="502920" y="1499616"/>
            <a:ext cx="8138160" cy="219456"/>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fn_GetDiscountedPrice(1, 10)  →  $719.99  (10% off Dell Inspiron $799.99)</a:t>
            </a:r>
            <a:endParaRPr lang="en-US" sz="1100" dirty="0"/>
          </a:p>
        </p:txBody>
      </p:sp>
      <p:sp>
        <p:nvSpPr>
          <p:cNvPr id="9" name="Text 7"/>
          <p:cNvSpPr/>
          <p:nvPr/>
        </p:nvSpPr>
        <p:spPr>
          <a:xfrm>
            <a:off x="411480" y="1755648"/>
            <a:ext cx="8229600" cy="329184"/>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Looks up the product's base price and returns the price after applying the given percentage discount, rounded to 2 decimal places.</a:t>
            </a:r>
            <a:endParaRPr lang="en-US" sz="1100" dirty="0"/>
          </a:p>
        </p:txBody>
      </p:sp>
      <p:sp>
        <p:nvSpPr>
          <p:cNvPr id="10" name="Shape 8"/>
          <p:cNvSpPr/>
          <p:nvPr/>
        </p:nvSpPr>
        <p:spPr>
          <a:xfrm>
            <a:off x="274320" y="2258568"/>
            <a:ext cx="8595360" cy="1298448"/>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11" name="Shape 9"/>
          <p:cNvSpPr/>
          <p:nvPr/>
        </p:nvSpPr>
        <p:spPr>
          <a:xfrm>
            <a:off x="274320" y="2258568"/>
            <a:ext cx="8595360" cy="73152"/>
          </a:xfrm>
          <a:prstGeom prst="rect">
            <a:avLst/>
          </a:prstGeom>
          <a:solidFill>
            <a:srgbClr val="1F4E79"/>
          </a:solidFill>
          <a:ln w="12700">
            <a:solidFill>
              <a:srgbClr val="1F4E79"/>
            </a:solidFill>
            <a:prstDash val="solid"/>
          </a:ln>
        </p:spPr>
        <p:txBody>
          <a:bodyPr/>
          <a:lstStyle/>
          <a:p>
            <a:endParaRPr lang="en-US"/>
          </a:p>
        </p:txBody>
      </p:sp>
      <p:sp>
        <p:nvSpPr>
          <p:cNvPr id="12" name="Text 10"/>
          <p:cNvSpPr/>
          <p:nvPr/>
        </p:nvSpPr>
        <p:spPr>
          <a:xfrm>
            <a:off x="411480" y="2368296"/>
            <a:ext cx="5029200" cy="274320"/>
          </a:xfrm>
          <a:prstGeom prst="rect">
            <a:avLst/>
          </a:prstGeom>
          <a:noFill/>
          <a:ln/>
        </p:spPr>
        <p:txBody>
          <a:bodyPr wrap="square" rtlCol="0" anchor="ctr"/>
          <a:lstStyle/>
          <a:p>
            <a:pPr marL="0" indent="0">
              <a:buNone/>
            </a:pPr>
            <a:r>
              <a:rPr lang="en-US" sz="1400" b="1" dirty="0">
                <a:solidFill>
                  <a:srgbClr val="1F4E79"/>
                </a:solidFill>
                <a:latin typeface="Calibri" pitchFamily="34" charset="0"/>
                <a:ea typeface="Calibri" pitchFamily="34" charset="-122"/>
                <a:cs typeface="Calibri" pitchFamily="34" charset="-120"/>
              </a:rPr>
              <a:t>fn_GetCategoryRevenue</a:t>
            </a:r>
            <a:endParaRPr lang="en-US" sz="1400" dirty="0"/>
          </a:p>
        </p:txBody>
      </p:sp>
      <p:sp>
        <p:nvSpPr>
          <p:cNvPr id="13" name="Text 11"/>
          <p:cNvSpPr/>
          <p:nvPr/>
        </p:nvSpPr>
        <p:spPr>
          <a:xfrm>
            <a:off x="411480" y="2660904"/>
            <a:ext cx="8229600" cy="219456"/>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IN: CategoryID   RETURNS: DECIMAL(12,2) — total revenue</a:t>
            </a:r>
            <a:endParaRPr lang="en-US" sz="1100" dirty="0"/>
          </a:p>
        </p:txBody>
      </p:sp>
      <p:sp>
        <p:nvSpPr>
          <p:cNvPr id="14" name="Shape 12"/>
          <p:cNvSpPr/>
          <p:nvPr/>
        </p:nvSpPr>
        <p:spPr>
          <a:xfrm>
            <a:off x="411480" y="2898648"/>
            <a:ext cx="8229600" cy="237744"/>
          </a:xfrm>
          <a:prstGeom prst="rect">
            <a:avLst/>
          </a:prstGeom>
          <a:solidFill>
            <a:srgbClr val="EBF3FB"/>
          </a:solidFill>
          <a:ln w="12700">
            <a:solidFill>
              <a:srgbClr val="EBF3FB"/>
            </a:solidFill>
            <a:prstDash val="solid"/>
          </a:ln>
        </p:spPr>
        <p:txBody>
          <a:bodyPr/>
          <a:lstStyle/>
          <a:p>
            <a:endParaRPr lang="en-US"/>
          </a:p>
        </p:txBody>
      </p:sp>
      <p:sp>
        <p:nvSpPr>
          <p:cNvPr id="15" name="Text 13"/>
          <p:cNvSpPr/>
          <p:nvPr/>
        </p:nvSpPr>
        <p:spPr>
          <a:xfrm>
            <a:off x="502920" y="2916936"/>
            <a:ext cx="8138160" cy="219456"/>
          </a:xfrm>
          <a:prstGeom prst="rect">
            <a:avLst/>
          </a:prstGeom>
          <a:noFill/>
          <a:ln/>
        </p:spPr>
        <p:txBody>
          <a:bodyPr wrap="square" rtlCol="0" anchor="ctr"/>
          <a:lstStyle/>
          <a:p>
            <a:pPr marL="0" indent="0">
              <a:buNone/>
            </a:pPr>
            <a:r>
              <a:rPr lang="en-US" sz="1100" b="1" dirty="0">
                <a:solidFill>
                  <a:srgbClr val="1F4E79"/>
                </a:solidFill>
                <a:latin typeface="Calibri" pitchFamily="34" charset="0"/>
                <a:ea typeface="Calibri" pitchFamily="34" charset="-122"/>
                <a:cs typeface="Calibri" pitchFamily="34" charset="-120"/>
              </a:rPr>
              <a:t>▶ fn_GetCategoryRevenue(1)  →  Total revenue from Electronics category</a:t>
            </a:r>
            <a:endParaRPr lang="en-US" sz="1100" dirty="0"/>
          </a:p>
        </p:txBody>
      </p:sp>
      <p:sp>
        <p:nvSpPr>
          <p:cNvPr id="16" name="Text 14"/>
          <p:cNvSpPr/>
          <p:nvPr/>
        </p:nvSpPr>
        <p:spPr>
          <a:xfrm>
            <a:off x="411480" y="3172968"/>
            <a:ext cx="8229600" cy="329184"/>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Sums the revenue of all OrderItems linked to products in a given category, excluding cancelled orders.</a:t>
            </a:r>
            <a:endParaRPr lang="en-US" sz="1100" dirty="0"/>
          </a:p>
        </p:txBody>
      </p:sp>
      <p:sp>
        <p:nvSpPr>
          <p:cNvPr id="17" name="Shape 15"/>
          <p:cNvSpPr/>
          <p:nvPr/>
        </p:nvSpPr>
        <p:spPr>
          <a:xfrm>
            <a:off x="274320" y="3675888"/>
            <a:ext cx="8595360" cy="1298448"/>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18" name="Shape 16"/>
          <p:cNvSpPr/>
          <p:nvPr/>
        </p:nvSpPr>
        <p:spPr>
          <a:xfrm>
            <a:off x="274320" y="3675888"/>
            <a:ext cx="8595360" cy="73152"/>
          </a:xfrm>
          <a:prstGeom prst="rect">
            <a:avLst/>
          </a:prstGeom>
          <a:solidFill>
            <a:srgbClr val="F59E0B"/>
          </a:solidFill>
          <a:ln w="12700">
            <a:solidFill>
              <a:srgbClr val="F59E0B"/>
            </a:solidFill>
            <a:prstDash val="solid"/>
          </a:ln>
        </p:spPr>
        <p:txBody>
          <a:bodyPr/>
          <a:lstStyle/>
          <a:p>
            <a:endParaRPr lang="en-US"/>
          </a:p>
        </p:txBody>
      </p:sp>
      <p:sp>
        <p:nvSpPr>
          <p:cNvPr id="19" name="Text 17"/>
          <p:cNvSpPr/>
          <p:nvPr/>
        </p:nvSpPr>
        <p:spPr>
          <a:xfrm>
            <a:off x="411480" y="3785616"/>
            <a:ext cx="5029200" cy="274320"/>
          </a:xfrm>
          <a:prstGeom prst="rect">
            <a:avLst/>
          </a:prstGeom>
          <a:noFill/>
          <a:ln/>
        </p:spPr>
        <p:txBody>
          <a:bodyPr wrap="square"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fn_GetCustomerTier</a:t>
            </a:r>
            <a:endParaRPr lang="en-US" sz="1400" dirty="0"/>
          </a:p>
        </p:txBody>
      </p:sp>
      <p:sp>
        <p:nvSpPr>
          <p:cNvPr id="20" name="Text 18"/>
          <p:cNvSpPr/>
          <p:nvPr/>
        </p:nvSpPr>
        <p:spPr>
          <a:xfrm>
            <a:off x="411480" y="4078224"/>
            <a:ext cx="8229600" cy="219456"/>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IN: CustomerID   RETURNS: NVARCHAR(20) — Bronze / Silver / Gold / Platinum</a:t>
            </a:r>
            <a:endParaRPr lang="en-US" sz="1100" dirty="0"/>
          </a:p>
        </p:txBody>
      </p:sp>
      <p:sp>
        <p:nvSpPr>
          <p:cNvPr id="21" name="Shape 19"/>
          <p:cNvSpPr/>
          <p:nvPr/>
        </p:nvSpPr>
        <p:spPr>
          <a:xfrm>
            <a:off x="411480" y="4315968"/>
            <a:ext cx="8229600" cy="237744"/>
          </a:xfrm>
          <a:prstGeom prst="rect">
            <a:avLst/>
          </a:prstGeom>
          <a:solidFill>
            <a:srgbClr val="EBF3FB"/>
          </a:solidFill>
          <a:ln w="12700">
            <a:solidFill>
              <a:srgbClr val="EBF3FB"/>
            </a:solidFill>
            <a:prstDash val="solid"/>
          </a:ln>
        </p:spPr>
        <p:txBody>
          <a:bodyPr/>
          <a:lstStyle/>
          <a:p>
            <a:endParaRPr lang="en-US"/>
          </a:p>
        </p:txBody>
      </p:sp>
      <p:sp>
        <p:nvSpPr>
          <p:cNvPr id="22" name="Text 20"/>
          <p:cNvSpPr/>
          <p:nvPr/>
        </p:nvSpPr>
        <p:spPr>
          <a:xfrm>
            <a:off x="502920" y="4334256"/>
            <a:ext cx="8138160" cy="219456"/>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 fn_GetCustomerTier(1)  →  'Gold'  ($1,000–$1,999 cumulative spending)</a:t>
            </a:r>
            <a:endParaRPr lang="en-US" sz="1100" dirty="0"/>
          </a:p>
        </p:txBody>
      </p:sp>
      <p:sp>
        <p:nvSpPr>
          <p:cNvPr id="23" name="Text 21"/>
          <p:cNvSpPr/>
          <p:nvPr/>
        </p:nvSpPr>
        <p:spPr>
          <a:xfrm>
            <a:off x="411480" y="4590288"/>
            <a:ext cx="8229600" cy="329184"/>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Classifies a customer into a loyalty tier based on total non-cancelled order spending: Bronze (&lt;$500), Silver ($500+), Gold ($1,000+), Platinum ($2,000+).</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Triggers — Automated Business Rules</a:t>
            </a:r>
            <a:endParaRPr lang="en-US" sz="2800" dirty="0"/>
          </a:p>
        </p:txBody>
      </p:sp>
      <p:sp>
        <p:nvSpPr>
          <p:cNvPr id="3" name="Shape 1"/>
          <p:cNvSpPr/>
          <p:nvPr/>
        </p:nvSpPr>
        <p:spPr>
          <a:xfrm>
            <a:off x="274320" y="841248"/>
            <a:ext cx="8595360" cy="1298448"/>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4" name="Shape 2"/>
          <p:cNvSpPr/>
          <p:nvPr/>
        </p:nvSpPr>
        <p:spPr>
          <a:xfrm>
            <a:off x="274320" y="841248"/>
            <a:ext cx="91440" cy="1298448"/>
          </a:xfrm>
          <a:prstGeom prst="rect">
            <a:avLst/>
          </a:prstGeom>
          <a:solidFill>
            <a:srgbClr val="028090"/>
          </a:solidFill>
          <a:ln w="12700">
            <a:solidFill>
              <a:srgbClr val="028090"/>
            </a:solidFill>
            <a:prstDash val="solid"/>
          </a:ln>
        </p:spPr>
        <p:txBody>
          <a:bodyPr/>
          <a:lstStyle/>
          <a:p>
            <a:endParaRPr lang="en-US"/>
          </a:p>
        </p:txBody>
      </p:sp>
      <p:sp>
        <p:nvSpPr>
          <p:cNvPr id="5" name="Text 3"/>
          <p:cNvSpPr/>
          <p:nvPr/>
        </p:nvSpPr>
        <p:spPr>
          <a:xfrm>
            <a:off x="502920" y="914400"/>
            <a:ext cx="5486400" cy="274320"/>
          </a:xfrm>
          <a:prstGeom prst="rect">
            <a:avLst/>
          </a:prstGeom>
          <a:noFill/>
          <a:ln/>
        </p:spPr>
        <p:txBody>
          <a:bodyPr wrap="square" rtlCol="0" anchor="ctr"/>
          <a:lstStyle/>
          <a:p>
            <a:pPr marL="0" indent="0">
              <a:buNone/>
            </a:pPr>
            <a:r>
              <a:rPr lang="en-US" sz="1400" b="1" dirty="0">
                <a:solidFill>
                  <a:srgbClr val="028090"/>
                </a:solidFill>
                <a:latin typeface="Calibri" pitchFamily="34" charset="0"/>
                <a:ea typeface="Calibri" pitchFamily="34" charset="-122"/>
                <a:cs typeface="Calibri" pitchFamily="34" charset="-120"/>
              </a:rPr>
              <a:t>trg_OrderItems_AfterInsert</a:t>
            </a:r>
            <a:endParaRPr lang="en-US" sz="1400" dirty="0"/>
          </a:p>
        </p:txBody>
      </p:sp>
      <p:sp>
        <p:nvSpPr>
          <p:cNvPr id="6" name="Shape 4"/>
          <p:cNvSpPr/>
          <p:nvPr/>
        </p:nvSpPr>
        <p:spPr>
          <a:xfrm>
            <a:off x="6126480" y="932688"/>
            <a:ext cx="2560320" cy="256032"/>
          </a:xfrm>
          <a:prstGeom prst="roundRect">
            <a:avLst>
              <a:gd name="adj" fmla="val 14286"/>
            </a:avLst>
          </a:prstGeom>
          <a:solidFill>
            <a:srgbClr val="028090">
              <a:alpha val="15000"/>
            </a:srgbClr>
          </a:solidFill>
          <a:ln w="12700">
            <a:solidFill>
              <a:srgbClr val="028090"/>
            </a:solidFill>
            <a:prstDash val="solid"/>
          </a:ln>
        </p:spPr>
        <p:txBody>
          <a:bodyPr/>
          <a:lstStyle/>
          <a:p>
            <a:endParaRPr lang="en-US"/>
          </a:p>
        </p:txBody>
      </p:sp>
      <p:sp>
        <p:nvSpPr>
          <p:cNvPr id="7" name="Text 5"/>
          <p:cNvSpPr/>
          <p:nvPr/>
        </p:nvSpPr>
        <p:spPr>
          <a:xfrm>
            <a:off x="6126480" y="932688"/>
            <a:ext cx="2560320" cy="256032"/>
          </a:xfrm>
          <a:prstGeom prst="rect">
            <a:avLst/>
          </a:prstGeom>
          <a:noFill/>
          <a:ln/>
        </p:spPr>
        <p:txBody>
          <a:bodyPr wrap="square" rtlCol="0" anchor="ctr"/>
          <a:lstStyle/>
          <a:p>
            <a:pPr marL="0" indent="0" algn="ctr">
              <a:buNone/>
            </a:pPr>
            <a:r>
              <a:rPr lang="en-US" sz="1000" b="1" dirty="0">
                <a:solidFill>
                  <a:srgbClr val="028090"/>
                </a:solidFill>
                <a:latin typeface="Calibri" pitchFamily="34" charset="0"/>
                <a:ea typeface="Calibri" pitchFamily="34" charset="-122"/>
                <a:cs typeface="Calibri" pitchFamily="34" charset="-120"/>
              </a:rPr>
              <a:t>AFTER INSERT  on  OrderItems</a:t>
            </a:r>
            <a:endParaRPr lang="en-US" sz="1000" dirty="0"/>
          </a:p>
        </p:txBody>
      </p:sp>
      <p:sp>
        <p:nvSpPr>
          <p:cNvPr id="8" name="Text 6"/>
          <p:cNvSpPr/>
          <p:nvPr/>
        </p:nvSpPr>
        <p:spPr>
          <a:xfrm>
            <a:off x="502920" y="1243584"/>
            <a:ext cx="8138160" cy="502920"/>
          </a:xfrm>
          <a:prstGeom prst="rect">
            <a:avLst/>
          </a:prstGeom>
          <a:noFill/>
          <a:ln/>
        </p:spPr>
        <p:txBody>
          <a:bodyPr wrap="square" rtlCol="0" anchor="ctr"/>
          <a:lstStyle/>
          <a:p>
            <a:pPr marL="0" indent="0">
              <a:lnSpc>
                <a:spcPct val="125000"/>
              </a:lnSpc>
              <a:buNone/>
            </a:pPr>
            <a:r>
              <a:rPr lang="en-US" sz="1200" dirty="0">
                <a:solidFill>
                  <a:srgbClr val="0D1B2A"/>
                </a:solidFill>
                <a:latin typeface="Calibri" pitchFamily="34" charset="0"/>
                <a:ea typeface="Calibri" pitchFamily="34" charset="-122"/>
                <a:cs typeface="Calibri" pitchFamily="34" charset="-120"/>
              </a:rPr>
              <a:t>Automatically recalculates and updates the TotalAmount on the parent Orders record every time a new OrderItem is inserted, accounting for quantity, unit price, and discount.</a:t>
            </a:r>
            <a:endParaRPr lang="en-US" sz="1200" dirty="0"/>
          </a:p>
        </p:txBody>
      </p:sp>
      <p:sp>
        <p:nvSpPr>
          <p:cNvPr id="9" name="Shape 7"/>
          <p:cNvSpPr/>
          <p:nvPr/>
        </p:nvSpPr>
        <p:spPr>
          <a:xfrm>
            <a:off x="502920" y="1783080"/>
            <a:ext cx="8138160" cy="256032"/>
          </a:xfrm>
          <a:prstGeom prst="rect">
            <a:avLst/>
          </a:prstGeom>
          <a:solidFill>
            <a:srgbClr val="EBF3FB"/>
          </a:solidFill>
          <a:ln w="12700">
            <a:solidFill>
              <a:srgbClr val="EBF3FB"/>
            </a:solidFill>
            <a:prstDash val="solid"/>
          </a:ln>
        </p:spPr>
        <p:txBody>
          <a:bodyPr/>
          <a:lstStyle/>
          <a:p>
            <a:endParaRPr lang="en-US"/>
          </a:p>
        </p:txBody>
      </p:sp>
      <p:sp>
        <p:nvSpPr>
          <p:cNvPr id="10" name="Text 8"/>
          <p:cNvSpPr/>
          <p:nvPr/>
        </p:nvSpPr>
        <p:spPr>
          <a:xfrm>
            <a:off x="594360" y="1801368"/>
            <a:ext cx="8046720" cy="219456"/>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Order totals are always accurate — no manual recalculation needed</a:t>
            </a:r>
            <a:endParaRPr lang="en-US" sz="1100" dirty="0"/>
          </a:p>
        </p:txBody>
      </p:sp>
      <p:sp>
        <p:nvSpPr>
          <p:cNvPr id="11" name="Shape 9"/>
          <p:cNvSpPr/>
          <p:nvPr/>
        </p:nvSpPr>
        <p:spPr>
          <a:xfrm>
            <a:off x="274320" y="2258568"/>
            <a:ext cx="8595360" cy="1298448"/>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274320" y="2258568"/>
            <a:ext cx="91440" cy="1298448"/>
          </a:xfrm>
          <a:prstGeom prst="rect">
            <a:avLst/>
          </a:prstGeom>
          <a:solidFill>
            <a:srgbClr val="E11D48"/>
          </a:solidFill>
          <a:ln w="12700">
            <a:solidFill>
              <a:srgbClr val="E11D48"/>
            </a:solidFill>
            <a:prstDash val="solid"/>
          </a:ln>
        </p:spPr>
        <p:txBody>
          <a:bodyPr/>
          <a:lstStyle/>
          <a:p>
            <a:endParaRPr lang="en-US"/>
          </a:p>
        </p:txBody>
      </p:sp>
      <p:sp>
        <p:nvSpPr>
          <p:cNvPr id="13" name="Text 11"/>
          <p:cNvSpPr/>
          <p:nvPr/>
        </p:nvSpPr>
        <p:spPr>
          <a:xfrm>
            <a:off x="502920" y="2331720"/>
            <a:ext cx="5486400" cy="274320"/>
          </a:xfrm>
          <a:prstGeom prst="rect">
            <a:avLst/>
          </a:prstGeom>
          <a:noFill/>
          <a:ln/>
        </p:spPr>
        <p:txBody>
          <a:bodyPr wrap="square" rtlCol="0" anchor="ctr"/>
          <a:lstStyle/>
          <a:p>
            <a:pPr marL="0" indent="0">
              <a:buNone/>
            </a:pPr>
            <a:r>
              <a:rPr lang="en-US" sz="1400" b="1" dirty="0">
                <a:solidFill>
                  <a:srgbClr val="E11D48"/>
                </a:solidFill>
                <a:latin typeface="Calibri" pitchFamily="34" charset="0"/>
                <a:ea typeface="Calibri" pitchFamily="34" charset="-122"/>
                <a:cs typeface="Calibri" pitchFamily="34" charset="-120"/>
              </a:rPr>
              <a:t>trg_Customers_PreventDelete</a:t>
            </a:r>
            <a:endParaRPr lang="en-US" sz="1400" dirty="0"/>
          </a:p>
        </p:txBody>
      </p:sp>
      <p:sp>
        <p:nvSpPr>
          <p:cNvPr id="14" name="Shape 12"/>
          <p:cNvSpPr/>
          <p:nvPr/>
        </p:nvSpPr>
        <p:spPr>
          <a:xfrm>
            <a:off x="6126480" y="2350008"/>
            <a:ext cx="2560320" cy="256032"/>
          </a:xfrm>
          <a:prstGeom prst="roundRect">
            <a:avLst>
              <a:gd name="adj" fmla="val 14286"/>
            </a:avLst>
          </a:prstGeom>
          <a:solidFill>
            <a:srgbClr val="E11D48">
              <a:alpha val="15000"/>
            </a:srgbClr>
          </a:solidFill>
          <a:ln w="12700">
            <a:solidFill>
              <a:srgbClr val="E11D48"/>
            </a:solidFill>
            <a:prstDash val="solid"/>
          </a:ln>
        </p:spPr>
        <p:txBody>
          <a:bodyPr/>
          <a:lstStyle/>
          <a:p>
            <a:endParaRPr lang="en-US"/>
          </a:p>
        </p:txBody>
      </p:sp>
      <p:sp>
        <p:nvSpPr>
          <p:cNvPr id="15" name="Text 13"/>
          <p:cNvSpPr/>
          <p:nvPr/>
        </p:nvSpPr>
        <p:spPr>
          <a:xfrm>
            <a:off x="6126480" y="2350008"/>
            <a:ext cx="2560320" cy="256032"/>
          </a:xfrm>
          <a:prstGeom prst="rect">
            <a:avLst/>
          </a:prstGeom>
          <a:noFill/>
          <a:ln/>
        </p:spPr>
        <p:txBody>
          <a:bodyPr wrap="square" rtlCol="0" anchor="ctr"/>
          <a:lstStyle/>
          <a:p>
            <a:pPr marL="0" indent="0" algn="ctr">
              <a:buNone/>
            </a:pPr>
            <a:r>
              <a:rPr lang="en-US" sz="1000" b="1" dirty="0">
                <a:solidFill>
                  <a:srgbClr val="E11D48"/>
                </a:solidFill>
                <a:latin typeface="Calibri" pitchFamily="34" charset="0"/>
                <a:ea typeface="Calibri" pitchFamily="34" charset="-122"/>
                <a:cs typeface="Calibri" pitchFamily="34" charset="-120"/>
              </a:rPr>
              <a:t>INSTEAD OF DELETE  on  Customers</a:t>
            </a:r>
            <a:endParaRPr lang="en-US" sz="1000" dirty="0"/>
          </a:p>
        </p:txBody>
      </p:sp>
      <p:sp>
        <p:nvSpPr>
          <p:cNvPr id="16" name="Text 14"/>
          <p:cNvSpPr/>
          <p:nvPr/>
        </p:nvSpPr>
        <p:spPr>
          <a:xfrm>
            <a:off x="502920" y="2660904"/>
            <a:ext cx="8138160" cy="502920"/>
          </a:xfrm>
          <a:prstGeom prst="rect">
            <a:avLst/>
          </a:prstGeom>
          <a:noFill/>
          <a:ln/>
        </p:spPr>
        <p:txBody>
          <a:bodyPr wrap="square" rtlCol="0" anchor="ctr"/>
          <a:lstStyle/>
          <a:p>
            <a:pPr marL="0" indent="0">
              <a:lnSpc>
                <a:spcPct val="125000"/>
              </a:lnSpc>
              <a:buNone/>
            </a:pPr>
            <a:r>
              <a:rPr lang="en-US" sz="1200" dirty="0">
                <a:solidFill>
                  <a:srgbClr val="0D1B2A"/>
                </a:solidFill>
                <a:latin typeface="Calibri" pitchFamily="34" charset="0"/>
                <a:ea typeface="Calibri" pitchFamily="34" charset="-122"/>
                <a:cs typeface="Calibri" pitchFamily="34" charset="-120"/>
              </a:rPr>
              <a:t>Blocks deletion of any customer who has existing orders. Raises a descriptive error message and rolls back the transaction, protecting referential integrity.</a:t>
            </a:r>
            <a:endParaRPr lang="en-US" sz="1200" dirty="0"/>
          </a:p>
        </p:txBody>
      </p:sp>
      <p:sp>
        <p:nvSpPr>
          <p:cNvPr id="17" name="Shape 15"/>
          <p:cNvSpPr/>
          <p:nvPr/>
        </p:nvSpPr>
        <p:spPr>
          <a:xfrm>
            <a:off x="502920" y="3200400"/>
            <a:ext cx="8138160" cy="256032"/>
          </a:xfrm>
          <a:prstGeom prst="rect">
            <a:avLst/>
          </a:prstGeom>
          <a:solidFill>
            <a:srgbClr val="EBF3FB"/>
          </a:solidFill>
          <a:ln w="12700">
            <a:solidFill>
              <a:srgbClr val="EBF3FB"/>
            </a:solidFill>
            <a:prstDash val="solid"/>
          </a:ln>
        </p:spPr>
        <p:txBody>
          <a:bodyPr/>
          <a:lstStyle/>
          <a:p>
            <a:endParaRPr lang="en-US"/>
          </a:p>
        </p:txBody>
      </p:sp>
      <p:sp>
        <p:nvSpPr>
          <p:cNvPr id="18" name="Text 16"/>
          <p:cNvSpPr/>
          <p:nvPr/>
        </p:nvSpPr>
        <p:spPr>
          <a:xfrm>
            <a:off x="594360" y="3218688"/>
            <a:ext cx="8046720" cy="219456"/>
          </a:xfrm>
          <a:prstGeom prst="rect">
            <a:avLst/>
          </a:prstGeom>
          <a:noFill/>
          <a:ln/>
        </p:spPr>
        <p:txBody>
          <a:bodyPr wrap="square" rtlCol="0" anchor="ctr"/>
          <a:lstStyle/>
          <a:p>
            <a:pPr marL="0" indent="0">
              <a:buNone/>
            </a:pPr>
            <a:r>
              <a:rPr lang="en-US" sz="1100" b="1" dirty="0">
                <a:solidFill>
                  <a:srgbClr val="E11D48"/>
                </a:solidFill>
                <a:latin typeface="Calibri" pitchFamily="34" charset="0"/>
                <a:ea typeface="Calibri" pitchFamily="34" charset="-122"/>
                <a:cs typeface="Calibri" pitchFamily="34" charset="-120"/>
              </a:rPr>
              <a:t>✔ Test confirmed: "Cannot delete customer with existing orders. Deactivate instead."</a:t>
            </a:r>
            <a:endParaRPr lang="en-US" sz="1100" dirty="0"/>
          </a:p>
        </p:txBody>
      </p:sp>
      <p:sp>
        <p:nvSpPr>
          <p:cNvPr id="19" name="Shape 17"/>
          <p:cNvSpPr/>
          <p:nvPr/>
        </p:nvSpPr>
        <p:spPr>
          <a:xfrm>
            <a:off x="274320" y="3675888"/>
            <a:ext cx="8595360" cy="1298448"/>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20" name="Shape 18"/>
          <p:cNvSpPr/>
          <p:nvPr/>
        </p:nvSpPr>
        <p:spPr>
          <a:xfrm>
            <a:off x="274320" y="3675888"/>
            <a:ext cx="91440" cy="1298448"/>
          </a:xfrm>
          <a:prstGeom prst="rect">
            <a:avLst/>
          </a:prstGeom>
          <a:solidFill>
            <a:srgbClr val="F59E0B"/>
          </a:solidFill>
          <a:ln w="12700">
            <a:solidFill>
              <a:srgbClr val="F59E0B"/>
            </a:solidFill>
            <a:prstDash val="solid"/>
          </a:ln>
        </p:spPr>
        <p:txBody>
          <a:bodyPr/>
          <a:lstStyle/>
          <a:p>
            <a:endParaRPr lang="en-US"/>
          </a:p>
        </p:txBody>
      </p:sp>
      <p:sp>
        <p:nvSpPr>
          <p:cNvPr id="21" name="Text 19"/>
          <p:cNvSpPr/>
          <p:nvPr/>
        </p:nvSpPr>
        <p:spPr>
          <a:xfrm>
            <a:off x="502920" y="3749040"/>
            <a:ext cx="5486400" cy="274320"/>
          </a:xfrm>
          <a:prstGeom prst="rect">
            <a:avLst/>
          </a:prstGeom>
          <a:noFill/>
          <a:ln/>
        </p:spPr>
        <p:txBody>
          <a:bodyPr wrap="square"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trg_Products_LowStock</a:t>
            </a:r>
            <a:endParaRPr lang="en-US" sz="1400" dirty="0"/>
          </a:p>
        </p:txBody>
      </p:sp>
      <p:sp>
        <p:nvSpPr>
          <p:cNvPr id="22" name="Shape 20"/>
          <p:cNvSpPr/>
          <p:nvPr/>
        </p:nvSpPr>
        <p:spPr>
          <a:xfrm>
            <a:off x="6126480" y="3767328"/>
            <a:ext cx="2560320" cy="256032"/>
          </a:xfrm>
          <a:prstGeom prst="roundRect">
            <a:avLst>
              <a:gd name="adj" fmla="val 14286"/>
            </a:avLst>
          </a:prstGeom>
          <a:solidFill>
            <a:srgbClr val="F59E0B">
              <a:alpha val="15000"/>
            </a:srgbClr>
          </a:solidFill>
          <a:ln w="12700">
            <a:solidFill>
              <a:srgbClr val="F59E0B"/>
            </a:solidFill>
            <a:prstDash val="solid"/>
          </a:ln>
        </p:spPr>
        <p:txBody>
          <a:bodyPr/>
          <a:lstStyle/>
          <a:p>
            <a:endParaRPr lang="en-US"/>
          </a:p>
        </p:txBody>
      </p:sp>
      <p:sp>
        <p:nvSpPr>
          <p:cNvPr id="23" name="Text 21"/>
          <p:cNvSpPr/>
          <p:nvPr/>
        </p:nvSpPr>
        <p:spPr>
          <a:xfrm>
            <a:off x="6126480" y="3767328"/>
            <a:ext cx="2560320" cy="256032"/>
          </a:xfrm>
          <a:prstGeom prst="rect">
            <a:avLst/>
          </a:prstGeom>
          <a:noFill/>
          <a:ln/>
        </p:spPr>
        <p:txBody>
          <a:bodyPr wrap="square" rtlCol="0" anchor="ctr"/>
          <a:lstStyle/>
          <a:p>
            <a:pPr marL="0" indent="0" algn="ctr">
              <a:buNone/>
            </a:pPr>
            <a:r>
              <a:rPr lang="en-US" sz="1000" b="1" dirty="0">
                <a:solidFill>
                  <a:srgbClr val="F59E0B"/>
                </a:solidFill>
                <a:latin typeface="Calibri" pitchFamily="34" charset="0"/>
                <a:ea typeface="Calibri" pitchFamily="34" charset="-122"/>
                <a:cs typeface="Calibri" pitchFamily="34" charset="-120"/>
              </a:rPr>
              <a:t>AFTER UPDATE  on  Products</a:t>
            </a:r>
            <a:endParaRPr lang="en-US" sz="1000" dirty="0"/>
          </a:p>
        </p:txBody>
      </p:sp>
      <p:sp>
        <p:nvSpPr>
          <p:cNvPr id="24" name="Text 22"/>
          <p:cNvSpPr/>
          <p:nvPr/>
        </p:nvSpPr>
        <p:spPr>
          <a:xfrm>
            <a:off x="502920" y="4078224"/>
            <a:ext cx="8138160" cy="502920"/>
          </a:xfrm>
          <a:prstGeom prst="rect">
            <a:avLst/>
          </a:prstGeom>
          <a:noFill/>
          <a:ln/>
        </p:spPr>
        <p:txBody>
          <a:bodyPr wrap="square" rtlCol="0" anchor="ctr"/>
          <a:lstStyle/>
          <a:p>
            <a:pPr marL="0" indent="0">
              <a:lnSpc>
                <a:spcPct val="125000"/>
              </a:lnSpc>
              <a:buNone/>
            </a:pPr>
            <a:r>
              <a:rPr lang="en-US" sz="1200" dirty="0">
                <a:solidFill>
                  <a:srgbClr val="0D1B2A"/>
                </a:solidFill>
                <a:latin typeface="Calibri" pitchFamily="34" charset="0"/>
                <a:ea typeface="Calibri" pitchFamily="34" charset="-122"/>
                <a:cs typeface="Calibri" pitchFamily="34" charset="-120"/>
              </a:rPr>
              <a:t>Monitors stock quantity updates. Whenever a product's StockQty drops below 5 units, an alert record is automatically inserted into the StockAlerts table for inventory managers.</a:t>
            </a:r>
            <a:endParaRPr lang="en-US" sz="1200" dirty="0"/>
          </a:p>
        </p:txBody>
      </p:sp>
      <p:sp>
        <p:nvSpPr>
          <p:cNvPr id="25" name="Shape 23"/>
          <p:cNvSpPr/>
          <p:nvPr/>
        </p:nvSpPr>
        <p:spPr>
          <a:xfrm>
            <a:off x="502920" y="4617720"/>
            <a:ext cx="8138160" cy="256032"/>
          </a:xfrm>
          <a:prstGeom prst="rect">
            <a:avLst/>
          </a:prstGeom>
          <a:solidFill>
            <a:srgbClr val="EBF3FB"/>
          </a:solidFill>
          <a:ln w="12700">
            <a:solidFill>
              <a:srgbClr val="EBF3FB"/>
            </a:solidFill>
            <a:prstDash val="solid"/>
          </a:ln>
        </p:spPr>
        <p:txBody>
          <a:bodyPr/>
          <a:lstStyle/>
          <a:p>
            <a:endParaRPr lang="en-US"/>
          </a:p>
        </p:txBody>
      </p:sp>
      <p:sp>
        <p:nvSpPr>
          <p:cNvPr id="26" name="Text 24"/>
          <p:cNvSpPr/>
          <p:nvPr/>
        </p:nvSpPr>
        <p:spPr>
          <a:xfrm>
            <a:off x="594360" y="4636008"/>
            <a:ext cx="8046720" cy="219456"/>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 Automatic inventory alerting — no application code required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Testing — Verified Results</a:t>
            </a:r>
            <a:endParaRPr lang="en-US" sz="3000" dirty="0"/>
          </a:p>
        </p:txBody>
      </p:sp>
      <p:sp>
        <p:nvSpPr>
          <p:cNvPr id="3" name="Shape 1"/>
          <p:cNvSpPr/>
          <p:nvPr/>
        </p:nvSpPr>
        <p:spPr>
          <a:xfrm>
            <a:off x="274320" y="841248"/>
            <a:ext cx="2816352" cy="39776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4" name="Shape 2"/>
          <p:cNvSpPr/>
          <p:nvPr/>
        </p:nvSpPr>
        <p:spPr>
          <a:xfrm>
            <a:off x="274320" y="841248"/>
            <a:ext cx="2816352" cy="384048"/>
          </a:xfrm>
          <a:prstGeom prst="rect">
            <a:avLst/>
          </a:prstGeom>
          <a:solidFill>
            <a:srgbClr val="028090"/>
          </a:solidFill>
          <a:ln w="12700">
            <a:solidFill>
              <a:srgbClr val="028090"/>
            </a:solidFill>
            <a:prstDash val="solid"/>
          </a:ln>
        </p:spPr>
        <p:txBody>
          <a:bodyPr/>
          <a:lstStyle/>
          <a:p>
            <a:endParaRPr lang="en-US"/>
          </a:p>
        </p:txBody>
      </p:sp>
      <p:sp>
        <p:nvSpPr>
          <p:cNvPr id="5" name="Text 3"/>
          <p:cNvSpPr/>
          <p:nvPr/>
        </p:nvSpPr>
        <p:spPr>
          <a:xfrm>
            <a:off x="274320" y="841248"/>
            <a:ext cx="2816352"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Stored Procedures</a:t>
            </a:r>
            <a:endParaRPr lang="en-US" sz="1400" dirty="0"/>
          </a:p>
        </p:txBody>
      </p:sp>
      <p:sp>
        <p:nvSpPr>
          <p:cNvPr id="6" name="Shape 4"/>
          <p:cNvSpPr/>
          <p:nvPr/>
        </p:nvSpPr>
        <p:spPr>
          <a:xfrm>
            <a:off x="438912" y="1353312"/>
            <a:ext cx="274320" cy="274320"/>
          </a:xfrm>
          <a:prstGeom prst="ellipse">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438912" y="1353312"/>
            <a:ext cx="274320" cy="274320"/>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
        <p:nvSpPr>
          <p:cNvPr id="8" name="Text 6"/>
          <p:cNvSpPr/>
          <p:nvPr/>
        </p:nvSpPr>
        <p:spPr>
          <a:xfrm>
            <a:off x="804672" y="1353312"/>
            <a:ext cx="2176272" cy="822960"/>
          </a:xfrm>
          <a:prstGeom prst="rect">
            <a:avLst/>
          </a:prstGeom>
          <a:noFill/>
          <a:ln/>
        </p:spPr>
        <p:txBody>
          <a:bodyPr wrap="square" rtlCol="0" anchor="ctr"/>
          <a:lstStyle/>
          <a:p>
            <a:pPr marL="0" indent="0">
              <a:lnSpc>
                <a:spcPct val="120000"/>
              </a:lnSpc>
              <a:buNone/>
            </a:pPr>
            <a:r>
              <a:rPr lang="en-US" sz="1200" dirty="0">
                <a:solidFill>
                  <a:srgbClr val="0D1B2A"/>
                </a:solidFill>
                <a:latin typeface="Calibri" pitchFamily="34" charset="0"/>
                <a:ea typeface="Calibri" pitchFamily="34" charset="-122"/>
                <a:cs typeface="Calibri" pitchFamily="34" charset="-120"/>
              </a:rPr>
              <a:t>sp_PlaceOrder → returned NewOrderID</a:t>
            </a:r>
            <a:endParaRPr lang="en-US" sz="1200" dirty="0"/>
          </a:p>
        </p:txBody>
      </p:sp>
      <p:sp>
        <p:nvSpPr>
          <p:cNvPr id="9" name="Shape 7"/>
          <p:cNvSpPr/>
          <p:nvPr/>
        </p:nvSpPr>
        <p:spPr>
          <a:xfrm>
            <a:off x="438912" y="2359152"/>
            <a:ext cx="274320" cy="274320"/>
          </a:xfrm>
          <a:prstGeom prst="ellipse">
            <a:avLst/>
          </a:prstGeom>
          <a:solidFill>
            <a:srgbClr val="028090"/>
          </a:solidFill>
          <a:ln w="12700">
            <a:solidFill>
              <a:srgbClr val="028090"/>
            </a:solidFill>
            <a:prstDash val="solid"/>
          </a:ln>
        </p:spPr>
        <p:txBody>
          <a:bodyPr/>
          <a:lstStyle/>
          <a:p>
            <a:endParaRPr lang="en-US"/>
          </a:p>
        </p:txBody>
      </p:sp>
      <p:sp>
        <p:nvSpPr>
          <p:cNvPr id="10" name="Text 8"/>
          <p:cNvSpPr/>
          <p:nvPr/>
        </p:nvSpPr>
        <p:spPr>
          <a:xfrm>
            <a:off x="438912" y="2359152"/>
            <a:ext cx="274320" cy="274320"/>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
        <p:nvSpPr>
          <p:cNvPr id="11" name="Text 9"/>
          <p:cNvSpPr/>
          <p:nvPr/>
        </p:nvSpPr>
        <p:spPr>
          <a:xfrm>
            <a:off x="804672" y="2359152"/>
            <a:ext cx="2176272" cy="822960"/>
          </a:xfrm>
          <a:prstGeom prst="rect">
            <a:avLst/>
          </a:prstGeom>
          <a:noFill/>
          <a:ln/>
        </p:spPr>
        <p:txBody>
          <a:bodyPr wrap="square" rtlCol="0" anchor="ctr"/>
          <a:lstStyle/>
          <a:p>
            <a:pPr marL="0" indent="0">
              <a:lnSpc>
                <a:spcPct val="120000"/>
              </a:lnSpc>
              <a:buNone/>
            </a:pPr>
            <a:r>
              <a:rPr lang="en-US" sz="1200" dirty="0">
                <a:solidFill>
                  <a:srgbClr val="0D1B2A"/>
                </a:solidFill>
                <a:latin typeface="Calibri" pitchFamily="34" charset="0"/>
                <a:ea typeface="Calibri" pitchFamily="34" charset="-122"/>
                <a:cs typeface="Calibri" pitchFamily="34" charset="-120"/>
              </a:rPr>
              <a:t>sp_GetCustomerOrders → returned TotalOrders &amp; TotalSpent</a:t>
            </a:r>
            <a:endParaRPr lang="en-US" sz="1200" dirty="0"/>
          </a:p>
        </p:txBody>
      </p:sp>
      <p:sp>
        <p:nvSpPr>
          <p:cNvPr id="12" name="Shape 10"/>
          <p:cNvSpPr/>
          <p:nvPr/>
        </p:nvSpPr>
        <p:spPr>
          <a:xfrm>
            <a:off x="438912" y="3364992"/>
            <a:ext cx="274320" cy="274320"/>
          </a:xfrm>
          <a:prstGeom prst="ellipse">
            <a:avLst/>
          </a:prstGeom>
          <a:solidFill>
            <a:srgbClr val="028090"/>
          </a:solidFill>
          <a:ln w="12700">
            <a:solidFill>
              <a:srgbClr val="028090"/>
            </a:solidFill>
            <a:prstDash val="solid"/>
          </a:ln>
        </p:spPr>
        <p:txBody>
          <a:bodyPr/>
          <a:lstStyle/>
          <a:p>
            <a:endParaRPr lang="en-US"/>
          </a:p>
        </p:txBody>
      </p:sp>
      <p:sp>
        <p:nvSpPr>
          <p:cNvPr id="13" name="Text 11"/>
          <p:cNvSpPr/>
          <p:nvPr/>
        </p:nvSpPr>
        <p:spPr>
          <a:xfrm>
            <a:off x="438912" y="3364992"/>
            <a:ext cx="274320" cy="274320"/>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
        <p:nvSpPr>
          <p:cNvPr id="14" name="Text 12"/>
          <p:cNvSpPr/>
          <p:nvPr/>
        </p:nvSpPr>
        <p:spPr>
          <a:xfrm>
            <a:off x="804672" y="3364992"/>
            <a:ext cx="2176272" cy="822960"/>
          </a:xfrm>
          <a:prstGeom prst="rect">
            <a:avLst/>
          </a:prstGeom>
          <a:noFill/>
          <a:ln/>
        </p:spPr>
        <p:txBody>
          <a:bodyPr wrap="square" rtlCol="0" anchor="ctr"/>
          <a:lstStyle/>
          <a:p>
            <a:pPr marL="0" indent="0">
              <a:lnSpc>
                <a:spcPct val="120000"/>
              </a:lnSpc>
              <a:buNone/>
            </a:pPr>
            <a:r>
              <a:rPr lang="en-US" sz="1200" dirty="0">
                <a:solidFill>
                  <a:srgbClr val="0D1B2A"/>
                </a:solidFill>
                <a:latin typeface="Calibri" pitchFamily="34" charset="0"/>
                <a:ea typeface="Calibri" pitchFamily="34" charset="-122"/>
                <a:cs typeface="Calibri" pitchFamily="34" charset="-120"/>
              </a:rPr>
              <a:t>sp_UpdateOrderStatus → returned Success = 1</a:t>
            </a:r>
            <a:endParaRPr lang="en-US" sz="1200" dirty="0"/>
          </a:p>
        </p:txBody>
      </p:sp>
      <p:sp>
        <p:nvSpPr>
          <p:cNvPr id="15" name="Shape 13"/>
          <p:cNvSpPr/>
          <p:nvPr/>
        </p:nvSpPr>
        <p:spPr>
          <a:xfrm>
            <a:off x="3218688" y="841248"/>
            <a:ext cx="2816352" cy="39776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3218688" y="841248"/>
            <a:ext cx="2816352" cy="384048"/>
          </a:xfrm>
          <a:prstGeom prst="rect">
            <a:avLst/>
          </a:prstGeom>
          <a:solidFill>
            <a:srgbClr val="1F4E79"/>
          </a:solidFill>
          <a:ln w="12700">
            <a:solidFill>
              <a:srgbClr val="1F4E79"/>
            </a:solidFill>
            <a:prstDash val="solid"/>
          </a:ln>
        </p:spPr>
        <p:txBody>
          <a:bodyPr/>
          <a:lstStyle/>
          <a:p>
            <a:endParaRPr lang="en-US"/>
          </a:p>
        </p:txBody>
      </p:sp>
      <p:sp>
        <p:nvSpPr>
          <p:cNvPr id="17" name="Text 15"/>
          <p:cNvSpPr/>
          <p:nvPr/>
        </p:nvSpPr>
        <p:spPr>
          <a:xfrm>
            <a:off x="3218688" y="841248"/>
            <a:ext cx="2816352"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Functions</a:t>
            </a:r>
            <a:endParaRPr lang="en-US" sz="1400" dirty="0"/>
          </a:p>
        </p:txBody>
      </p:sp>
      <p:sp>
        <p:nvSpPr>
          <p:cNvPr id="18" name="Shape 16"/>
          <p:cNvSpPr/>
          <p:nvPr/>
        </p:nvSpPr>
        <p:spPr>
          <a:xfrm>
            <a:off x="3383280" y="1353312"/>
            <a:ext cx="274320" cy="274320"/>
          </a:xfrm>
          <a:prstGeom prst="ellipse">
            <a:avLst/>
          </a:prstGeom>
          <a:solidFill>
            <a:srgbClr val="1F4E79"/>
          </a:solidFill>
          <a:ln w="12700">
            <a:solidFill>
              <a:srgbClr val="1F4E79"/>
            </a:solidFill>
            <a:prstDash val="solid"/>
          </a:ln>
        </p:spPr>
        <p:txBody>
          <a:bodyPr/>
          <a:lstStyle/>
          <a:p>
            <a:endParaRPr lang="en-US"/>
          </a:p>
        </p:txBody>
      </p:sp>
      <p:sp>
        <p:nvSpPr>
          <p:cNvPr id="19" name="Text 17"/>
          <p:cNvSpPr/>
          <p:nvPr/>
        </p:nvSpPr>
        <p:spPr>
          <a:xfrm>
            <a:off x="3383280" y="1353312"/>
            <a:ext cx="274320" cy="274320"/>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
        <p:nvSpPr>
          <p:cNvPr id="20" name="Text 18"/>
          <p:cNvSpPr/>
          <p:nvPr/>
        </p:nvSpPr>
        <p:spPr>
          <a:xfrm>
            <a:off x="3749040" y="1353312"/>
            <a:ext cx="2176272" cy="822960"/>
          </a:xfrm>
          <a:prstGeom prst="rect">
            <a:avLst/>
          </a:prstGeom>
          <a:noFill/>
          <a:ln/>
        </p:spPr>
        <p:txBody>
          <a:bodyPr wrap="square" rtlCol="0" anchor="ctr"/>
          <a:lstStyle/>
          <a:p>
            <a:pPr marL="0" indent="0">
              <a:lnSpc>
                <a:spcPct val="120000"/>
              </a:lnSpc>
              <a:buNone/>
            </a:pPr>
            <a:r>
              <a:rPr lang="en-US" sz="1200" dirty="0">
                <a:solidFill>
                  <a:srgbClr val="0D1B2A"/>
                </a:solidFill>
                <a:latin typeface="Calibri" pitchFamily="34" charset="0"/>
                <a:ea typeface="Calibri" pitchFamily="34" charset="-122"/>
                <a:cs typeface="Calibri" pitchFamily="34" charset="-120"/>
              </a:rPr>
              <a:t>fn_GetDiscountedPrice(1,10) → $719.99</a:t>
            </a:r>
            <a:endParaRPr lang="en-US" sz="1200" dirty="0"/>
          </a:p>
        </p:txBody>
      </p:sp>
      <p:sp>
        <p:nvSpPr>
          <p:cNvPr id="21" name="Shape 19"/>
          <p:cNvSpPr/>
          <p:nvPr/>
        </p:nvSpPr>
        <p:spPr>
          <a:xfrm>
            <a:off x="3383280" y="2359152"/>
            <a:ext cx="274320" cy="274320"/>
          </a:xfrm>
          <a:prstGeom prst="ellipse">
            <a:avLst/>
          </a:prstGeom>
          <a:solidFill>
            <a:srgbClr val="1F4E79"/>
          </a:solidFill>
          <a:ln w="12700">
            <a:solidFill>
              <a:srgbClr val="1F4E79"/>
            </a:solidFill>
            <a:prstDash val="solid"/>
          </a:ln>
        </p:spPr>
        <p:txBody>
          <a:bodyPr/>
          <a:lstStyle/>
          <a:p>
            <a:endParaRPr lang="en-US"/>
          </a:p>
        </p:txBody>
      </p:sp>
      <p:sp>
        <p:nvSpPr>
          <p:cNvPr id="22" name="Text 20"/>
          <p:cNvSpPr/>
          <p:nvPr/>
        </p:nvSpPr>
        <p:spPr>
          <a:xfrm>
            <a:off x="3383280" y="2359152"/>
            <a:ext cx="274320" cy="274320"/>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
        <p:nvSpPr>
          <p:cNvPr id="23" name="Text 21"/>
          <p:cNvSpPr/>
          <p:nvPr/>
        </p:nvSpPr>
        <p:spPr>
          <a:xfrm>
            <a:off x="3749040" y="2359152"/>
            <a:ext cx="2176272" cy="822960"/>
          </a:xfrm>
          <a:prstGeom prst="rect">
            <a:avLst/>
          </a:prstGeom>
          <a:noFill/>
          <a:ln/>
        </p:spPr>
        <p:txBody>
          <a:bodyPr wrap="square" rtlCol="0" anchor="ctr"/>
          <a:lstStyle/>
          <a:p>
            <a:pPr marL="0" indent="0">
              <a:lnSpc>
                <a:spcPct val="120000"/>
              </a:lnSpc>
              <a:buNone/>
            </a:pPr>
            <a:r>
              <a:rPr lang="en-US" sz="1200" dirty="0">
                <a:solidFill>
                  <a:srgbClr val="0D1B2A"/>
                </a:solidFill>
                <a:latin typeface="Calibri" pitchFamily="34" charset="0"/>
                <a:ea typeface="Calibri" pitchFamily="34" charset="-122"/>
                <a:cs typeface="Calibri" pitchFamily="34" charset="-120"/>
              </a:rPr>
              <a:t>fn_GetCategoryRevenue(1) → Electronics total revenue</a:t>
            </a:r>
            <a:endParaRPr lang="en-US" sz="1200" dirty="0"/>
          </a:p>
        </p:txBody>
      </p:sp>
      <p:sp>
        <p:nvSpPr>
          <p:cNvPr id="24" name="Shape 22"/>
          <p:cNvSpPr/>
          <p:nvPr/>
        </p:nvSpPr>
        <p:spPr>
          <a:xfrm>
            <a:off x="3383280" y="3364992"/>
            <a:ext cx="274320" cy="274320"/>
          </a:xfrm>
          <a:prstGeom prst="ellipse">
            <a:avLst/>
          </a:prstGeom>
          <a:solidFill>
            <a:srgbClr val="1F4E79"/>
          </a:solidFill>
          <a:ln w="12700">
            <a:solidFill>
              <a:srgbClr val="1F4E79"/>
            </a:solidFill>
            <a:prstDash val="solid"/>
          </a:ln>
        </p:spPr>
        <p:txBody>
          <a:bodyPr/>
          <a:lstStyle/>
          <a:p>
            <a:endParaRPr lang="en-US"/>
          </a:p>
        </p:txBody>
      </p:sp>
      <p:sp>
        <p:nvSpPr>
          <p:cNvPr id="25" name="Text 23"/>
          <p:cNvSpPr/>
          <p:nvPr/>
        </p:nvSpPr>
        <p:spPr>
          <a:xfrm>
            <a:off x="3383280" y="3364992"/>
            <a:ext cx="274320" cy="274320"/>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
        <p:nvSpPr>
          <p:cNvPr id="26" name="Text 24"/>
          <p:cNvSpPr/>
          <p:nvPr/>
        </p:nvSpPr>
        <p:spPr>
          <a:xfrm>
            <a:off x="3749040" y="3364992"/>
            <a:ext cx="2176272" cy="822960"/>
          </a:xfrm>
          <a:prstGeom prst="rect">
            <a:avLst/>
          </a:prstGeom>
          <a:noFill/>
          <a:ln/>
        </p:spPr>
        <p:txBody>
          <a:bodyPr wrap="square" rtlCol="0" anchor="ctr"/>
          <a:lstStyle/>
          <a:p>
            <a:pPr marL="0" indent="0">
              <a:lnSpc>
                <a:spcPct val="120000"/>
              </a:lnSpc>
              <a:buNone/>
            </a:pPr>
            <a:r>
              <a:rPr lang="en-US" sz="1200" dirty="0">
                <a:solidFill>
                  <a:srgbClr val="0D1B2A"/>
                </a:solidFill>
                <a:latin typeface="Calibri" pitchFamily="34" charset="0"/>
                <a:ea typeface="Calibri" pitchFamily="34" charset="-122"/>
                <a:cs typeface="Calibri" pitchFamily="34" charset="-120"/>
              </a:rPr>
              <a:t>fn_GetCustomerTier(1) → Gold tier</a:t>
            </a:r>
            <a:endParaRPr lang="en-US" sz="1200" dirty="0"/>
          </a:p>
        </p:txBody>
      </p:sp>
      <p:sp>
        <p:nvSpPr>
          <p:cNvPr id="27" name="Shape 25"/>
          <p:cNvSpPr/>
          <p:nvPr/>
        </p:nvSpPr>
        <p:spPr>
          <a:xfrm>
            <a:off x="6163056" y="841248"/>
            <a:ext cx="2816352" cy="39776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28" name="Shape 26"/>
          <p:cNvSpPr/>
          <p:nvPr/>
        </p:nvSpPr>
        <p:spPr>
          <a:xfrm>
            <a:off x="6163056" y="841248"/>
            <a:ext cx="2816352" cy="384048"/>
          </a:xfrm>
          <a:prstGeom prst="rect">
            <a:avLst/>
          </a:prstGeom>
          <a:solidFill>
            <a:srgbClr val="F59E0B"/>
          </a:solidFill>
          <a:ln w="12700">
            <a:solidFill>
              <a:srgbClr val="F59E0B"/>
            </a:solidFill>
            <a:prstDash val="solid"/>
          </a:ln>
        </p:spPr>
        <p:txBody>
          <a:bodyPr/>
          <a:lstStyle/>
          <a:p>
            <a:endParaRPr lang="en-US"/>
          </a:p>
        </p:txBody>
      </p:sp>
      <p:sp>
        <p:nvSpPr>
          <p:cNvPr id="29" name="Text 27"/>
          <p:cNvSpPr/>
          <p:nvPr/>
        </p:nvSpPr>
        <p:spPr>
          <a:xfrm>
            <a:off x="6163056" y="841248"/>
            <a:ext cx="2816352"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Triggers</a:t>
            </a:r>
            <a:endParaRPr lang="en-US" sz="1400" dirty="0"/>
          </a:p>
        </p:txBody>
      </p:sp>
      <p:sp>
        <p:nvSpPr>
          <p:cNvPr id="30" name="Shape 28"/>
          <p:cNvSpPr/>
          <p:nvPr/>
        </p:nvSpPr>
        <p:spPr>
          <a:xfrm>
            <a:off x="6327648" y="1353312"/>
            <a:ext cx="274320" cy="274320"/>
          </a:xfrm>
          <a:prstGeom prst="ellipse">
            <a:avLst/>
          </a:prstGeom>
          <a:solidFill>
            <a:srgbClr val="F59E0B"/>
          </a:solidFill>
          <a:ln w="12700">
            <a:solidFill>
              <a:srgbClr val="F59E0B"/>
            </a:solidFill>
            <a:prstDash val="solid"/>
          </a:ln>
        </p:spPr>
        <p:txBody>
          <a:bodyPr/>
          <a:lstStyle/>
          <a:p>
            <a:endParaRPr lang="en-US"/>
          </a:p>
        </p:txBody>
      </p:sp>
      <p:sp>
        <p:nvSpPr>
          <p:cNvPr id="31" name="Text 29"/>
          <p:cNvSpPr/>
          <p:nvPr/>
        </p:nvSpPr>
        <p:spPr>
          <a:xfrm>
            <a:off x="6327648" y="1353312"/>
            <a:ext cx="274320" cy="274320"/>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
        <p:nvSpPr>
          <p:cNvPr id="32" name="Text 30"/>
          <p:cNvSpPr/>
          <p:nvPr/>
        </p:nvSpPr>
        <p:spPr>
          <a:xfrm>
            <a:off x="6693408" y="1353312"/>
            <a:ext cx="2176272" cy="822960"/>
          </a:xfrm>
          <a:prstGeom prst="rect">
            <a:avLst/>
          </a:prstGeom>
          <a:noFill/>
          <a:ln/>
        </p:spPr>
        <p:txBody>
          <a:bodyPr wrap="square" rtlCol="0" anchor="ctr"/>
          <a:lstStyle/>
          <a:p>
            <a:pPr marL="0" indent="0">
              <a:lnSpc>
                <a:spcPct val="120000"/>
              </a:lnSpc>
              <a:buNone/>
            </a:pPr>
            <a:r>
              <a:rPr lang="en-US" sz="1200" dirty="0">
                <a:solidFill>
                  <a:srgbClr val="0D1B2A"/>
                </a:solidFill>
                <a:latin typeface="Calibri" pitchFamily="34" charset="0"/>
                <a:ea typeface="Calibri" pitchFamily="34" charset="-122"/>
                <a:cs typeface="Calibri" pitchFamily="34" charset="-120"/>
              </a:rPr>
              <a:t>Order total auto-recalculated after insert</a:t>
            </a:r>
            <a:endParaRPr lang="en-US" sz="1200" dirty="0"/>
          </a:p>
        </p:txBody>
      </p:sp>
      <p:sp>
        <p:nvSpPr>
          <p:cNvPr id="33" name="Shape 31"/>
          <p:cNvSpPr/>
          <p:nvPr/>
        </p:nvSpPr>
        <p:spPr>
          <a:xfrm>
            <a:off x="6327648" y="2359152"/>
            <a:ext cx="274320" cy="274320"/>
          </a:xfrm>
          <a:prstGeom prst="ellipse">
            <a:avLst/>
          </a:prstGeom>
          <a:solidFill>
            <a:srgbClr val="F59E0B"/>
          </a:solidFill>
          <a:ln w="12700">
            <a:solidFill>
              <a:srgbClr val="F59E0B"/>
            </a:solidFill>
            <a:prstDash val="solid"/>
          </a:ln>
        </p:spPr>
        <p:txBody>
          <a:bodyPr/>
          <a:lstStyle/>
          <a:p>
            <a:endParaRPr lang="en-US"/>
          </a:p>
        </p:txBody>
      </p:sp>
      <p:sp>
        <p:nvSpPr>
          <p:cNvPr id="34" name="Text 32"/>
          <p:cNvSpPr/>
          <p:nvPr/>
        </p:nvSpPr>
        <p:spPr>
          <a:xfrm>
            <a:off x="6327648" y="2359152"/>
            <a:ext cx="274320" cy="274320"/>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
        <p:nvSpPr>
          <p:cNvPr id="35" name="Text 33"/>
          <p:cNvSpPr/>
          <p:nvPr/>
        </p:nvSpPr>
        <p:spPr>
          <a:xfrm>
            <a:off x="6693408" y="2359152"/>
            <a:ext cx="2176272" cy="822960"/>
          </a:xfrm>
          <a:prstGeom prst="rect">
            <a:avLst/>
          </a:prstGeom>
          <a:noFill/>
          <a:ln/>
        </p:spPr>
        <p:txBody>
          <a:bodyPr wrap="square" rtlCol="0" anchor="ctr"/>
          <a:lstStyle/>
          <a:p>
            <a:pPr marL="0" indent="0">
              <a:lnSpc>
                <a:spcPct val="120000"/>
              </a:lnSpc>
              <a:buNone/>
            </a:pPr>
            <a:r>
              <a:rPr lang="en-US" sz="1200" dirty="0">
                <a:solidFill>
                  <a:srgbClr val="0D1B2A"/>
                </a:solidFill>
                <a:latin typeface="Calibri" pitchFamily="34" charset="0"/>
                <a:ea typeface="Calibri" pitchFamily="34" charset="-122"/>
                <a:cs typeface="Calibri" pitchFamily="34" charset="-120"/>
              </a:rPr>
              <a:t>Delete blocked with error message</a:t>
            </a:r>
            <a:endParaRPr lang="en-US" sz="1200" dirty="0"/>
          </a:p>
        </p:txBody>
      </p:sp>
      <p:sp>
        <p:nvSpPr>
          <p:cNvPr id="36" name="Shape 34"/>
          <p:cNvSpPr/>
          <p:nvPr/>
        </p:nvSpPr>
        <p:spPr>
          <a:xfrm>
            <a:off x="6327648" y="3364992"/>
            <a:ext cx="274320" cy="274320"/>
          </a:xfrm>
          <a:prstGeom prst="ellipse">
            <a:avLst/>
          </a:prstGeom>
          <a:solidFill>
            <a:srgbClr val="F59E0B"/>
          </a:solidFill>
          <a:ln w="12700">
            <a:solidFill>
              <a:srgbClr val="F59E0B"/>
            </a:solidFill>
            <a:prstDash val="solid"/>
          </a:ln>
        </p:spPr>
        <p:txBody>
          <a:bodyPr/>
          <a:lstStyle/>
          <a:p>
            <a:endParaRPr lang="en-US"/>
          </a:p>
        </p:txBody>
      </p:sp>
      <p:sp>
        <p:nvSpPr>
          <p:cNvPr id="37" name="Text 35"/>
          <p:cNvSpPr/>
          <p:nvPr/>
        </p:nvSpPr>
        <p:spPr>
          <a:xfrm>
            <a:off x="6327648" y="3364992"/>
            <a:ext cx="274320" cy="274320"/>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
        <p:nvSpPr>
          <p:cNvPr id="38" name="Text 36"/>
          <p:cNvSpPr/>
          <p:nvPr/>
        </p:nvSpPr>
        <p:spPr>
          <a:xfrm>
            <a:off x="6693408" y="3364992"/>
            <a:ext cx="2176272" cy="822960"/>
          </a:xfrm>
          <a:prstGeom prst="rect">
            <a:avLst/>
          </a:prstGeom>
          <a:noFill/>
          <a:ln/>
        </p:spPr>
        <p:txBody>
          <a:bodyPr wrap="square" rtlCol="0" anchor="ctr"/>
          <a:lstStyle/>
          <a:p>
            <a:pPr marL="0" indent="0">
              <a:lnSpc>
                <a:spcPct val="120000"/>
              </a:lnSpc>
              <a:buNone/>
            </a:pPr>
            <a:r>
              <a:rPr lang="en-US" sz="1200" dirty="0">
                <a:solidFill>
                  <a:srgbClr val="0D1B2A"/>
                </a:solidFill>
                <a:latin typeface="Calibri" pitchFamily="34" charset="0"/>
                <a:ea typeface="Calibri" pitchFamily="34" charset="-122"/>
                <a:cs typeface="Calibri" pitchFamily="34" charset="-120"/>
              </a:rPr>
              <a:t>StockAlerts record created at qty &lt; 5</a:t>
            </a:r>
            <a:endParaRPr lang="en-US" sz="1200" dirty="0"/>
          </a:p>
        </p:txBody>
      </p:sp>
      <p:sp>
        <p:nvSpPr>
          <p:cNvPr id="39" name="Text 37"/>
          <p:cNvSpPr/>
          <p:nvPr/>
        </p:nvSpPr>
        <p:spPr>
          <a:xfrm>
            <a:off x="274320" y="4846320"/>
            <a:ext cx="8595360" cy="228600"/>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All tests executed in VS Code using the mssql extension connected to Microsoft SQL Server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57200" y="3200400"/>
            <a:ext cx="3200400" cy="3200400"/>
          </a:xfrm>
          <a:prstGeom prst="ellipse">
            <a:avLst/>
          </a:prstGeom>
          <a:solidFill>
            <a:srgbClr val="028090">
              <a:alpha val="18000"/>
            </a:srgbClr>
          </a:solidFill>
          <a:ln w="12700">
            <a:solidFill>
              <a:srgbClr val="028090">
                <a:alpha val="18000"/>
              </a:srgbClr>
            </a:solidFill>
            <a:prstDash val="solid"/>
          </a:ln>
        </p:spPr>
        <p:txBody>
          <a:bodyPr/>
          <a:lstStyle/>
          <a:p>
            <a:endParaRPr lang="en-US"/>
          </a:p>
        </p:txBody>
      </p:sp>
      <p:sp>
        <p:nvSpPr>
          <p:cNvPr id="3" name="Shape 1"/>
          <p:cNvSpPr/>
          <p:nvPr/>
        </p:nvSpPr>
        <p:spPr>
          <a:xfrm>
            <a:off x="7772400" y="-731520"/>
            <a:ext cx="2560320" cy="2560320"/>
          </a:xfrm>
          <a:prstGeom prst="ellipse">
            <a:avLst/>
          </a:prstGeom>
          <a:solidFill>
            <a:srgbClr val="02C39A">
              <a:alpha val="22000"/>
            </a:srgbClr>
          </a:solidFill>
          <a:ln w="12700">
            <a:solidFill>
              <a:srgbClr val="02C39A">
                <a:alpha val="22000"/>
              </a:srgbClr>
            </a:solidFill>
            <a:prstDash val="solid"/>
          </a:ln>
        </p:spPr>
        <p:txBody>
          <a:bodyPr/>
          <a:lstStyle/>
          <a:p>
            <a:endParaRPr lang="en-US"/>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Conclusions &amp; Key Learnings</a:t>
            </a:r>
            <a:endParaRPr lang="en-US" sz="3000" dirty="0"/>
          </a:p>
        </p:txBody>
      </p:sp>
      <p:sp>
        <p:nvSpPr>
          <p:cNvPr id="5" name="Shape 3"/>
          <p:cNvSpPr/>
          <p:nvPr/>
        </p:nvSpPr>
        <p:spPr>
          <a:xfrm>
            <a:off x="365760" y="868680"/>
            <a:ext cx="54864" cy="777240"/>
          </a:xfrm>
          <a:prstGeom prst="rect">
            <a:avLst/>
          </a:prstGeom>
          <a:solidFill>
            <a:srgbClr val="02C39A"/>
          </a:solidFill>
          <a:ln w="12700">
            <a:solidFill>
              <a:srgbClr val="02C39A"/>
            </a:solidFill>
            <a:prstDash val="solid"/>
          </a:ln>
        </p:spPr>
        <p:txBody>
          <a:bodyPr/>
          <a:lstStyle/>
          <a:p>
            <a:endParaRPr lang="en-US"/>
          </a:p>
        </p:txBody>
      </p:sp>
      <p:sp>
        <p:nvSpPr>
          <p:cNvPr id="6" name="Text 4"/>
          <p:cNvSpPr/>
          <p:nvPr/>
        </p:nvSpPr>
        <p:spPr>
          <a:xfrm>
            <a:off x="548640" y="886968"/>
            <a:ext cx="8229600" cy="274320"/>
          </a:xfrm>
          <a:prstGeom prst="rect">
            <a:avLst/>
          </a:prstGeom>
          <a:noFill/>
          <a:ln/>
        </p:spPr>
        <p:txBody>
          <a:bodyPr wrap="square" rtlCol="0" anchor="ctr"/>
          <a:lstStyle/>
          <a:p>
            <a:pPr marL="0" indent="0">
              <a:buNone/>
            </a:pPr>
            <a:r>
              <a:rPr lang="en-US" sz="1500" b="1" dirty="0">
                <a:solidFill>
                  <a:srgbClr val="02C39A"/>
                </a:solidFill>
                <a:latin typeface="Calibri" pitchFamily="34" charset="0"/>
                <a:ea typeface="Calibri" pitchFamily="34" charset="-122"/>
                <a:cs typeface="Calibri" pitchFamily="34" charset="-120"/>
              </a:rPr>
              <a:t>Full Database Lifecycle</a:t>
            </a:r>
            <a:endParaRPr lang="en-US" sz="1500" dirty="0"/>
          </a:p>
        </p:txBody>
      </p:sp>
      <p:sp>
        <p:nvSpPr>
          <p:cNvPr id="7" name="Text 5"/>
          <p:cNvSpPr/>
          <p:nvPr/>
        </p:nvSpPr>
        <p:spPr>
          <a:xfrm>
            <a:off x="548640" y="1188720"/>
            <a:ext cx="8229600" cy="411480"/>
          </a:xfrm>
          <a:prstGeom prst="rect">
            <a:avLst/>
          </a:prstGeom>
          <a:noFill/>
          <a:ln/>
        </p:spPr>
        <p:txBody>
          <a:bodyPr wrap="square" rtlCol="0" anchor="ctr"/>
          <a:lstStyle/>
          <a:p>
            <a:pPr marL="0" indent="0">
              <a:buNone/>
            </a:pPr>
            <a:r>
              <a:rPr lang="en-US" sz="1300" dirty="0">
                <a:solidFill>
                  <a:srgbClr val="CBD5E1"/>
                </a:solidFill>
                <a:latin typeface="Calibri" pitchFamily="34" charset="0"/>
                <a:ea typeface="Calibri" pitchFamily="34" charset="-122"/>
                <a:cs typeface="Calibri" pitchFamily="34" charset="-120"/>
              </a:rPr>
              <a:t>Successfully designed, built, and tested a production-grade relational database system from ER modeling through T-SQL implementation.</a:t>
            </a:r>
            <a:endParaRPr lang="en-US" sz="1300" dirty="0"/>
          </a:p>
        </p:txBody>
      </p:sp>
      <p:sp>
        <p:nvSpPr>
          <p:cNvPr id="8" name="Shape 6"/>
          <p:cNvSpPr/>
          <p:nvPr/>
        </p:nvSpPr>
        <p:spPr>
          <a:xfrm>
            <a:off x="365760" y="1874520"/>
            <a:ext cx="54864" cy="777240"/>
          </a:xfrm>
          <a:prstGeom prst="rect">
            <a:avLst/>
          </a:prstGeom>
          <a:solidFill>
            <a:srgbClr val="02C39A"/>
          </a:solidFill>
          <a:ln w="12700">
            <a:solidFill>
              <a:srgbClr val="02C39A"/>
            </a:solidFill>
            <a:prstDash val="solid"/>
          </a:ln>
        </p:spPr>
        <p:txBody>
          <a:bodyPr/>
          <a:lstStyle/>
          <a:p>
            <a:endParaRPr lang="en-US"/>
          </a:p>
        </p:txBody>
      </p:sp>
      <p:sp>
        <p:nvSpPr>
          <p:cNvPr id="9" name="Text 7"/>
          <p:cNvSpPr/>
          <p:nvPr/>
        </p:nvSpPr>
        <p:spPr>
          <a:xfrm>
            <a:off x="548640" y="1892808"/>
            <a:ext cx="8229600" cy="274320"/>
          </a:xfrm>
          <a:prstGeom prst="rect">
            <a:avLst/>
          </a:prstGeom>
          <a:noFill/>
          <a:ln/>
        </p:spPr>
        <p:txBody>
          <a:bodyPr wrap="square" rtlCol="0" anchor="ctr"/>
          <a:lstStyle/>
          <a:p>
            <a:pPr marL="0" indent="0">
              <a:buNone/>
            </a:pPr>
            <a:r>
              <a:rPr lang="en-US" sz="1500" b="1" dirty="0">
                <a:solidFill>
                  <a:srgbClr val="02C39A"/>
                </a:solidFill>
                <a:latin typeface="Calibri" pitchFamily="34" charset="0"/>
                <a:ea typeface="Calibri" pitchFamily="34" charset="-122"/>
                <a:cs typeface="Calibri" pitchFamily="34" charset="-120"/>
              </a:rPr>
              <a:t>Data Integrity at Every Layer</a:t>
            </a:r>
            <a:endParaRPr lang="en-US" sz="1500" dirty="0"/>
          </a:p>
        </p:txBody>
      </p:sp>
      <p:sp>
        <p:nvSpPr>
          <p:cNvPr id="10" name="Text 8"/>
          <p:cNvSpPr/>
          <p:nvPr/>
        </p:nvSpPr>
        <p:spPr>
          <a:xfrm>
            <a:off x="548640" y="2194560"/>
            <a:ext cx="8229600" cy="411480"/>
          </a:xfrm>
          <a:prstGeom prst="rect">
            <a:avLst/>
          </a:prstGeom>
          <a:noFill/>
          <a:ln/>
        </p:spPr>
        <p:txBody>
          <a:bodyPr wrap="square" rtlCol="0" anchor="ctr"/>
          <a:lstStyle/>
          <a:p>
            <a:pPr marL="0" indent="0">
              <a:buNone/>
            </a:pPr>
            <a:r>
              <a:rPr lang="en-US" sz="1300" dirty="0">
                <a:solidFill>
                  <a:srgbClr val="CBD5E1"/>
                </a:solidFill>
                <a:latin typeface="Calibri" pitchFamily="34" charset="0"/>
                <a:ea typeface="Calibri" pitchFamily="34" charset="-122"/>
                <a:cs typeface="Calibri" pitchFamily="34" charset="-120"/>
              </a:rPr>
              <a:t>Enforced through PK, FK, CHECK, NOT NULL, and UNIQUE constraints across all 6 tables with zero integrity violations during testing.</a:t>
            </a:r>
            <a:endParaRPr lang="en-US" sz="1300" dirty="0"/>
          </a:p>
        </p:txBody>
      </p:sp>
      <p:sp>
        <p:nvSpPr>
          <p:cNvPr id="11" name="Shape 9"/>
          <p:cNvSpPr/>
          <p:nvPr/>
        </p:nvSpPr>
        <p:spPr>
          <a:xfrm>
            <a:off x="365760" y="2880360"/>
            <a:ext cx="54864" cy="777240"/>
          </a:xfrm>
          <a:prstGeom prst="rect">
            <a:avLst/>
          </a:prstGeom>
          <a:solidFill>
            <a:srgbClr val="02C39A"/>
          </a:solidFill>
          <a:ln w="12700">
            <a:solidFill>
              <a:srgbClr val="02C39A"/>
            </a:solidFill>
            <a:prstDash val="solid"/>
          </a:ln>
        </p:spPr>
        <p:txBody>
          <a:bodyPr/>
          <a:lstStyle/>
          <a:p>
            <a:endParaRPr lang="en-US"/>
          </a:p>
        </p:txBody>
      </p:sp>
      <p:sp>
        <p:nvSpPr>
          <p:cNvPr id="12" name="Text 10"/>
          <p:cNvSpPr/>
          <p:nvPr/>
        </p:nvSpPr>
        <p:spPr>
          <a:xfrm>
            <a:off x="548640" y="2898648"/>
            <a:ext cx="8229600" cy="274320"/>
          </a:xfrm>
          <a:prstGeom prst="rect">
            <a:avLst/>
          </a:prstGeom>
          <a:noFill/>
          <a:ln/>
        </p:spPr>
        <p:txBody>
          <a:bodyPr wrap="square" rtlCol="0" anchor="ctr"/>
          <a:lstStyle/>
          <a:p>
            <a:pPr marL="0" indent="0">
              <a:buNone/>
            </a:pPr>
            <a:r>
              <a:rPr lang="en-US" sz="1500" b="1" dirty="0">
                <a:solidFill>
                  <a:srgbClr val="02C39A"/>
                </a:solidFill>
                <a:latin typeface="Calibri" pitchFamily="34" charset="0"/>
                <a:ea typeface="Calibri" pitchFamily="34" charset="-122"/>
                <a:cs typeface="Calibri" pitchFamily="34" charset="-120"/>
              </a:rPr>
              <a:t>Automation via Triggers</a:t>
            </a:r>
            <a:endParaRPr lang="en-US" sz="1500" dirty="0"/>
          </a:p>
        </p:txBody>
      </p:sp>
      <p:sp>
        <p:nvSpPr>
          <p:cNvPr id="13" name="Text 11"/>
          <p:cNvSpPr/>
          <p:nvPr/>
        </p:nvSpPr>
        <p:spPr>
          <a:xfrm>
            <a:off x="548640" y="3200400"/>
            <a:ext cx="8229600" cy="411480"/>
          </a:xfrm>
          <a:prstGeom prst="rect">
            <a:avLst/>
          </a:prstGeom>
          <a:noFill/>
          <a:ln/>
        </p:spPr>
        <p:txBody>
          <a:bodyPr wrap="square" rtlCol="0" anchor="ctr"/>
          <a:lstStyle/>
          <a:p>
            <a:pPr marL="0" indent="0">
              <a:buNone/>
            </a:pPr>
            <a:r>
              <a:rPr lang="en-US" sz="1300" dirty="0">
                <a:solidFill>
                  <a:srgbClr val="CBD5E1"/>
                </a:solidFill>
                <a:latin typeface="Calibri" pitchFamily="34" charset="0"/>
                <a:ea typeface="Calibri" pitchFamily="34" charset="-122"/>
                <a:cs typeface="Calibri" pitchFamily="34" charset="-120"/>
              </a:rPr>
              <a:t>Triggers eliminated manual recalculation and enforcement logic — order totals, delete protection, and low-stock alerts all handled automatically.</a:t>
            </a:r>
            <a:endParaRPr lang="en-US" sz="1300" dirty="0"/>
          </a:p>
        </p:txBody>
      </p:sp>
      <p:sp>
        <p:nvSpPr>
          <p:cNvPr id="14" name="Shape 12"/>
          <p:cNvSpPr/>
          <p:nvPr/>
        </p:nvSpPr>
        <p:spPr>
          <a:xfrm>
            <a:off x="365760" y="3886200"/>
            <a:ext cx="54864" cy="777240"/>
          </a:xfrm>
          <a:prstGeom prst="rect">
            <a:avLst/>
          </a:prstGeom>
          <a:solidFill>
            <a:srgbClr val="02C39A"/>
          </a:solidFill>
          <a:ln w="12700">
            <a:solidFill>
              <a:srgbClr val="02C39A"/>
            </a:solidFill>
            <a:prstDash val="solid"/>
          </a:ln>
        </p:spPr>
        <p:txBody>
          <a:bodyPr/>
          <a:lstStyle/>
          <a:p>
            <a:endParaRPr lang="en-US"/>
          </a:p>
        </p:txBody>
      </p:sp>
      <p:sp>
        <p:nvSpPr>
          <p:cNvPr id="15" name="Text 13"/>
          <p:cNvSpPr/>
          <p:nvPr/>
        </p:nvSpPr>
        <p:spPr>
          <a:xfrm>
            <a:off x="548640" y="3904488"/>
            <a:ext cx="8229600" cy="274320"/>
          </a:xfrm>
          <a:prstGeom prst="rect">
            <a:avLst/>
          </a:prstGeom>
          <a:noFill/>
          <a:ln/>
        </p:spPr>
        <p:txBody>
          <a:bodyPr wrap="square" rtlCol="0" anchor="ctr"/>
          <a:lstStyle/>
          <a:p>
            <a:pPr marL="0" indent="0">
              <a:buNone/>
            </a:pPr>
            <a:r>
              <a:rPr lang="en-US" sz="1500" b="1" dirty="0">
                <a:solidFill>
                  <a:srgbClr val="02C39A"/>
                </a:solidFill>
                <a:latin typeface="Calibri" pitchFamily="34" charset="0"/>
                <a:ea typeface="Calibri" pitchFamily="34" charset="-122"/>
                <a:cs typeface="Calibri" pitchFamily="34" charset="-120"/>
              </a:rPr>
              <a:t>Reusable T-SQL Components</a:t>
            </a:r>
            <a:endParaRPr lang="en-US" sz="1500" dirty="0"/>
          </a:p>
        </p:txBody>
      </p:sp>
      <p:sp>
        <p:nvSpPr>
          <p:cNvPr id="16" name="Text 14"/>
          <p:cNvSpPr/>
          <p:nvPr/>
        </p:nvSpPr>
        <p:spPr>
          <a:xfrm>
            <a:off x="548640" y="4206240"/>
            <a:ext cx="8229600" cy="411480"/>
          </a:xfrm>
          <a:prstGeom prst="rect">
            <a:avLst/>
          </a:prstGeom>
          <a:noFill/>
          <a:ln/>
        </p:spPr>
        <p:txBody>
          <a:bodyPr wrap="square" rtlCol="0" anchor="ctr"/>
          <a:lstStyle/>
          <a:p>
            <a:pPr marL="0" indent="0">
              <a:buNone/>
            </a:pPr>
            <a:r>
              <a:rPr lang="en-US" sz="1300" dirty="0">
                <a:solidFill>
                  <a:srgbClr val="CBD5E1"/>
                </a:solidFill>
                <a:latin typeface="Calibri" pitchFamily="34" charset="0"/>
                <a:ea typeface="Calibri" pitchFamily="34" charset="-122"/>
                <a:cs typeface="Calibri" pitchFamily="34" charset="-120"/>
              </a:rPr>
              <a:t>Views, stored procedures, and functions abstract complexity, making the database easier to maintain and extend for future features.</a:t>
            </a:r>
            <a:endParaRPr lang="en-US" sz="1300" dirty="0"/>
          </a:p>
        </p:txBody>
      </p:sp>
      <p:sp>
        <p:nvSpPr>
          <p:cNvPr id="17" name="Shape 15"/>
          <p:cNvSpPr/>
          <p:nvPr/>
        </p:nvSpPr>
        <p:spPr>
          <a:xfrm>
            <a:off x="365760" y="4617720"/>
            <a:ext cx="8412480" cy="347472"/>
          </a:xfrm>
          <a:prstGeom prst="rect">
            <a:avLst/>
          </a:prstGeom>
          <a:solidFill>
            <a:srgbClr val="028090"/>
          </a:solidFill>
          <a:ln w="12700">
            <a:solidFill>
              <a:srgbClr val="028090"/>
            </a:solidFill>
            <a:prstDash val="solid"/>
          </a:ln>
        </p:spPr>
        <p:txBody>
          <a:bodyPr/>
          <a:lstStyle/>
          <a:p>
            <a:endParaRPr lang="en-US"/>
          </a:p>
        </p:txBody>
      </p:sp>
      <p:sp>
        <p:nvSpPr>
          <p:cNvPr id="18" name="Text 16"/>
          <p:cNvSpPr/>
          <p:nvPr/>
        </p:nvSpPr>
        <p:spPr>
          <a:xfrm>
            <a:off x="365760" y="4617720"/>
            <a:ext cx="841248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Thank You  —  Questions?  |  Syamala Rao Gudipudi &amp; Akshitha Sanapuri  |  CPSC 4576  |  Spring 2026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1128</Words>
  <Application>Microsoft Macintosh PowerPoint</Application>
  <PresentationFormat>On-screen Show (16:9)</PresentationFormat>
  <Paragraphs>162</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Database System — CPSC 4576</dc:title>
  <dc:subject>PptxGenJS Presentation</dc:subject>
  <dc:creator>Syamala Rao Gudipudi &amp; Akshitha Sanapuri</dc:creator>
  <cp:lastModifiedBy>Gudipudi, Syamala Rao (Student)</cp:lastModifiedBy>
  <cp:revision>2</cp:revision>
  <dcterms:created xsi:type="dcterms:W3CDTF">2026-05-04T14:55:31Z</dcterms:created>
  <dcterms:modified xsi:type="dcterms:W3CDTF">2026-05-04T15:16:49Z</dcterms:modified>
</cp:coreProperties>
</file>