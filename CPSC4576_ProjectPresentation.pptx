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545"/>
    <p:restoredTop sz="94610"/>
  </p:normalViewPr>
  <p:slideViewPr>
    <p:cSldViewPr snapToGrid="0" snapToObjects="1">
      <p:cViewPr varScale="1">
        <p:scale>
          <a:sx n="160" d="100"/>
          <a:sy n="160" d="100"/>
        </p:scale>
        <p:origin x="168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79936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949440" y="-1005840"/>
            <a:ext cx="3474720" cy="3474720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680960" y="-365760"/>
            <a:ext cx="2103120" cy="2103120"/>
          </a:xfrm>
          <a:prstGeom prst="ellipse">
            <a:avLst/>
          </a:prstGeom>
          <a:solidFill>
            <a:srgbClr val="02C39A">
              <a:alpha val="27000"/>
            </a:srgbClr>
          </a:solidFill>
          <a:ln w="12700">
            <a:solidFill>
              <a:srgbClr val="02C39A">
                <a:alpha val="27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92608" y="804672"/>
            <a:ext cx="169164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92608" y="80467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CPSC 4576 — Database Systems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92608" y="1207008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Online</a:t>
            </a:r>
            <a:endParaRPr lang="en-US" sz="4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Database System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292608" y="3090672"/>
            <a:ext cx="777240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Design, Development &amp; Implementation using Microsoft SQL Server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92608" y="3639312"/>
            <a:ext cx="8503920" cy="80467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02336" y="3685032"/>
            <a:ext cx="8321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Syamala Rao Gudipudi  &amp;  </a:t>
            </a:r>
            <a:r>
              <a:rPr lang="en-US" sz="15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Akshitha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Sanapuri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56032" y="822960"/>
            <a:ext cx="1353312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56032" y="822960"/>
            <a:ext cx="1353312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56032" y="932688"/>
            <a:ext cx="13533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256032" y="1481328"/>
            <a:ext cx="135331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737360" y="822960"/>
            <a:ext cx="1353312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737360" y="822960"/>
            <a:ext cx="1353312" cy="914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737360" y="932688"/>
            <a:ext cx="13533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1737360" y="1481328"/>
            <a:ext cx="135331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18688" y="822960"/>
            <a:ext cx="1353312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18688" y="822960"/>
            <a:ext cx="1353312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18688" y="932688"/>
            <a:ext cx="13533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3218688" y="1481328"/>
            <a:ext cx="135331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00016" y="822960"/>
            <a:ext cx="1353312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700016" y="822960"/>
            <a:ext cx="1353312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00016" y="932688"/>
            <a:ext cx="13533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4700016" y="1481328"/>
            <a:ext cx="135331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Scalar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81344" y="822960"/>
            <a:ext cx="1353312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181344" y="822960"/>
            <a:ext cx="1353312" cy="91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181344" y="932688"/>
            <a:ext cx="13533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6181344" y="1481328"/>
            <a:ext cx="135331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662672" y="822960"/>
            <a:ext cx="1353312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662672" y="822960"/>
            <a:ext cx="1353312" cy="914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662672" y="932688"/>
            <a:ext cx="13533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3400" dirty="0"/>
          </a:p>
        </p:txBody>
      </p:sp>
      <p:sp>
        <p:nvSpPr>
          <p:cNvPr id="26" name="Text 24"/>
          <p:cNvSpPr/>
          <p:nvPr/>
        </p:nvSpPr>
        <p:spPr>
          <a:xfrm>
            <a:off x="7662672" y="1481328"/>
            <a:ext cx="135331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56032" y="2423160"/>
            <a:ext cx="8631936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56032" y="2423160"/>
            <a:ext cx="91440" cy="960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57200" y="24871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ECommerceDB?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7200" y="2734056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relational database system built using Microsoft SQL Server that manages the complete lifecycle of an online retail store — product catalog, customer registration, order processing, inventory tracking, and review </a:t>
            </a:r>
            <a:r>
              <a:rPr lang="en-US" sz="130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managet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256032" y="3547872"/>
            <a:ext cx="1353312" cy="274320"/>
          </a:xfrm>
          <a:prstGeom prst="roundRect">
            <a:avLst>
              <a:gd name="adj" fmla="val 16667"/>
            </a:avLst>
          </a:prstGeom>
          <a:solidFill>
            <a:srgbClr val="EBF3FB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56032" y="3547872"/>
            <a:ext cx="1353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SQL Server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1737360" y="3547872"/>
            <a:ext cx="1353312" cy="274320"/>
          </a:xfrm>
          <a:prstGeom prst="roundRect">
            <a:avLst>
              <a:gd name="adj" fmla="val 16667"/>
            </a:avLst>
          </a:prstGeom>
          <a:solidFill>
            <a:srgbClr val="EBF3FB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737360" y="3547872"/>
            <a:ext cx="1353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+ mssql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218688" y="3547872"/>
            <a:ext cx="1353312" cy="274320"/>
          </a:xfrm>
          <a:prstGeom prst="roundRect">
            <a:avLst>
              <a:gd name="adj" fmla="val 16667"/>
            </a:avLst>
          </a:prstGeom>
          <a:solidFill>
            <a:srgbClr val="EBF3FB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218688" y="3547872"/>
            <a:ext cx="1353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T-SQL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700016" y="3547872"/>
            <a:ext cx="1353312" cy="274320"/>
          </a:xfrm>
          <a:prstGeom prst="roundRect">
            <a:avLst>
              <a:gd name="adj" fmla="val 16667"/>
            </a:avLst>
          </a:prstGeom>
          <a:solidFill>
            <a:srgbClr val="EBF3FB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700016" y="3547872"/>
            <a:ext cx="1353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Tables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181344" y="3547872"/>
            <a:ext cx="1353312" cy="274320"/>
          </a:xfrm>
          <a:prstGeom prst="roundRect">
            <a:avLst>
              <a:gd name="adj" fmla="val 16667"/>
            </a:avLst>
          </a:prstGeom>
          <a:solidFill>
            <a:srgbClr val="EBF3FB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181344" y="3547872"/>
            <a:ext cx="1353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Procedures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7662672" y="3547872"/>
            <a:ext cx="1353312" cy="274320"/>
          </a:xfrm>
          <a:prstGeom prst="roundRect">
            <a:avLst>
              <a:gd name="adj" fmla="val 16667"/>
            </a:avLst>
          </a:prstGeom>
          <a:solidFill>
            <a:srgbClr val="EBF3FB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7662672" y="3547872"/>
            <a:ext cx="1353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&amp; Functions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256032" y="38587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— Introduction &amp; Objectives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59536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91440" cy="8046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75488" y="85953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5488" y="1115568"/>
            <a:ext cx="81381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ECommerceDB provides a centralized, structured data store supporting an online store's core business operations — transaction processing, product management, customer relationship tracking, and business reporting.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74320" y="17556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74320" y="2103120"/>
            <a:ext cx="4187952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4320" y="2103120"/>
            <a:ext cx="4187952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02336" y="2231136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Storage &amp; Retrieval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02336" y="2487168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relational tables for product, customer, and order data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3063240"/>
            <a:ext cx="4187952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74320" y="3063240"/>
            <a:ext cx="4187952" cy="914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02336" y="3191256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02336" y="3447288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Keys, Foreign Keys, CHECK, NOT NULL, and UNIQUE constraints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0" y="4023360"/>
            <a:ext cx="4462272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274320" y="4014216"/>
            <a:ext cx="4187952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02336" y="4151376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Automation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02336" y="4407408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Procedures, Functions &amp; Triggers reduce application-layer complexity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81728" y="2103120"/>
            <a:ext cx="4187952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681728" y="2103120"/>
            <a:ext cx="4187952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09744" y="2231136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09744" y="2487168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aggregate sales, customer behavior, and product performance data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64608" y="4011632"/>
            <a:ext cx="4059936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4864608" y="3995928"/>
            <a:ext cx="4059936" cy="914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Referential Integrity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670048" y="413308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37760" y="4338828"/>
            <a:ext cx="3840480" cy="434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interrelated tables covering the complete e-commerce domain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 2 &amp; 3 — ER Diagram &amp; Database Relationships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804672"/>
            <a:ext cx="1783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103120" y="84124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──────── ∞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34840" y="804672"/>
            <a:ext cx="1783080" cy="420624"/>
          </a:xfrm>
          <a:prstGeom prst="rect">
            <a:avLst/>
          </a:prstGeom>
          <a:solidFill>
            <a:srgbClr val="1F4E79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434840" y="804672"/>
            <a:ext cx="1783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64224" y="859536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customer places many orders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74320" y="1472184"/>
            <a:ext cx="1783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03120" y="15087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──────── ∞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434840" y="1472184"/>
            <a:ext cx="1783080" cy="420624"/>
          </a:xfrm>
          <a:prstGeom prst="rect">
            <a:avLst/>
          </a:prstGeom>
          <a:solidFill>
            <a:srgbClr val="1F4E79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434840" y="1472184"/>
            <a:ext cx="1783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ORDERITEMS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64224" y="152704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order contains many line items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103120" y="217627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──────── ∞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434840" y="2139696"/>
            <a:ext cx="1783080" cy="420624"/>
          </a:xfrm>
          <a:prstGeom prst="rect">
            <a:avLst/>
          </a:prstGeom>
          <a:solidFill>
            <a:srgbClr val="1F4E79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434840" y="2139696"/>
            <a:ext cx="1783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ORDERITEMS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64224" y="219456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product appears in many order items (junction)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103120" y="284378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──────── ∞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434840" y="2807208"/>
            <a:ext cx="1783080" cy="420624"/>
          </a:xfrm>
          <a:prstGeom prst="rect">
            <a:avLst/>
          </a:prstGeom>
          <a:solidFill>
            <a:srgbClr val="1F4E79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434840" y="2807208"/>
            <a:ext cx="1783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64224" y="286207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category groups many products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274320" y="3474720"/>
            <a:ext cx="1783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103120" y="351129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──────── ∞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434840" y="3474720"/>
            <a:ext cx="1783080" cy="420624"/>
          </a:xfrm>
          <a:prstGeom prst="rect">
            <a:avLst/>
          </a:prstGeom>
          <a:solidFill>
            <a:srgbClr val="1F4E7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434840" y="3474720"/>
            <a:ext cx="1783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364224" y="3529584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customer writes many reviews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274320" y="4142232"/>
            <a:ext cx="1783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103120" y="417880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──────── ∞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434840" y="4142232"/>
            <a:ext cx="1783080" cy="420624"/>
          </a:xfrm>
          <a:prstGeom prst="rect">
            <a:avLst/>
          </a:prstGeom>
          <a:solidFill>
            <a:srgbClr val="1F4E79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434840" y="4142232"/>
            <a:ext cx="1783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364224" y="4197096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product receives many reviews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274320" y="4663440"/>
            <a:ext cx="8595360" cy="310896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274320" y="4663440"/>
            <a:ext cx="8595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tables enforce:  PRIMARY KEY  ·  FOREIGN KEY  ·  NOT NULL  ·  UNIQUE  ·  CHECK constraints</a:t>
            </a:r>
            <a:endParaRPr lang="en-US" sz="1200" dirty="0"/>
          </a:p>
        </p:txBody>
      </p:sp>
      <p:pic>
        <p:nvPicPr>
          <p:cNvPr id="42" name="Picture 41" descr="A diagram of a database&#10;&#10;Description automatically generated">
            <a:extLst>
              <a:ext uri="{FF2B5EF4-FFF2-40B4-BE49-F238E27FC236}">
                <a16:creationId xmlns:a16="http://schemas.microsoft.com/office/drawing/2014/main" id="{42945576-4689-29FB-F0FE-96E0914FD9D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2459"/>
            <a:ext cx="9144000" cy="440535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4.1 — Table Creation (Tables 1–3)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804672"/>
            <a:ext cx="283464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56032" y="804672"/>
            <a:ext cx="283464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56032" y="80467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1: Customers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9184" y="1225296"/>
            <a:ext cx="2688336" cy="420624"/>
          </a:xfrm>
          <a:prstGeom prst="rect">
            <a:avLst/>
          </a:prstGeom>
          <a:solidFill>
            <a:srgbClr val="EBF3FB"/>
          </a:solidFill>
          <a:ln w="12700">
            <a:solidFill>
              <a:srgbClr val="EBF3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02336" y="1280160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CustomerID  INT  PK IDENTITY(1,1)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02336" y="1719072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FirstName / LastName  NVARCHAR(50)  NOT NULL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9184" y="2103120"/>
            <a:ext cx="2688336" cy="420624"/>
          </a:xfrm>
          <a:prstGeom prst="rect">
            <a:avLst/>
          </a:prstGeom>
          <a:solidFill>
            <a:srgbClr val="EBF3FB"/>
          </a:solidFill>
          <a:ln w="12700">
            <a:solidFill>
              <a:srgbClr val="EBF3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02336" y="2157984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 NVARCHAR(100)  NOT NULL  UNIQUE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02336" y="2596896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Phone, Address, City, State, ZipCode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9184" y="2980944"/>
            <a:ext cx="2688336" cy="420624"/>
          </a:xfrm>
          <a:prstGeom prst="rect">
            <a:avLst/>
          </a:prstGeom>
          <a:solidFill>
            <a:srgbClr val="EBF3FB"/>
          </a:solidFill>
          <a:ln w="12700">
            <a:solidFill>
              <a:srgbClr val="EBF3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02336" y="3035808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CreatedAt  DATETIME  DEFAULT GETDATE()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02336" y="3474720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IsActive  BIT  DEFAULT 1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9184" y="4462272"/>
            <a:ext cx="2688336" cy="347472"/>
          </a:xfrm>
          <a:prstGeom prst="rect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29184" y="4462272"/>
            <a:ext cx="26883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Email LIKE '%@%.%'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27832" y="804672"/>
            <a:ext cx="283464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227832" y="804672"/>
            <a:ext cx="2834640" cy="34747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227832" y="80467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2: Categories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300984" y="1225296"/>
            <a:ext cx="2688336" cy="420624"/>
          </a:xfrm>
          <a:prstGeom prst="rect">
            <a:avLst/>
          </a:prstGeom>
          <a:solidFill>
            <a:srgbClr val="EBF3FB"/>
          </a:solidFill>
          <a:ln w="12700">
            <a:solidFill>
              <a:srgbClr val="EBF3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374136" y="1280160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CategoryID  INT  PK IDENTITY(1,1)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374136" y="1719072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CategoryName  NVARCHAR(100)  NOT NULL  UNIQUE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300984" y="2103120"/>
            <a:ext cx="2688336" cy="420624"/>
          </a:xfrm>
          <a:prstGeom prst="rect">
            <a:avLst/>
          </a:prstGeom>
          <a:solidFill>
            <a:srgbClr val="EBF3FB"/>
          </a:solidFill>
          <a:ln w="12700">
            <a:solidFill>
              <a:srgbClr val="EBF3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374136" y="2157984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 NVARCHAR(500)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374136" y="2596896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ParentCategoryID  INT  FK → Categories(CategoryID)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300984" y="4462272"/>
            <a:ext cx="2688336" cy="347472"/>
          </a:xfrm>
          <a:prstGeom prst="rect">
            <a:avLst/>
          </a:prstGeom>
          <a:solidFill>
            <a:srgbClr val="1F4E79">
              <a:alpha val="15000"/>
            </a:srgbClr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300984" y="4462272"/>
            <a:ext cx="26883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Self-referencing FK (supports subcategories)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99632" y="804672"/>
            <a:ext cx="283464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199632" y="804672"/>
            <a:ext cx="283464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199632" y="80467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3: Products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272784" y="1225296"/>
            <a:ext cx="2688336" cy="420624"/>
          </a:xfrm>
          <a:prstGeom prst="rect">
            <a:avLst/>
          </a:prstGeom>
          <a:solidFill>
            <a:srgbClr val="EBF3FB"/>
          </a:solidFill>
          <a:ln w="12700">
            <a:solidFill>
              <a:srgbClr val="EBF3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345936" y="1280160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ProductID  INT  PK IDENTITY(1,1)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345936" y="1719072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ProductName  NVARCHAR(200)  NOT NULL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272784" y="2103120"/>
            <a:ext cx="2688336" cy="420624"/>
          </a:xfrm>
          <a:prstGeom prst="rect">
            <a:avLst/>
          </a:prstGeom>
          <a:solidFill>
            <a:srgbClr val="EBF3FB"/>
          </a:solidFill>
          <a:ln w="12700">
            <a:solidFill>
              <a:srgbClr val="EBF3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345936" y="2157984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CategoryID  INT  NOT NULL  FK → Categories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345936" y="2596896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 DECIMAL(10,2)  NOT NULL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272784" y="2980944"/>
            <a:ext cx="2688336" cy="420624"/>
          </a:xfrm>
          <a:prstGeom prst="rect">
            <a:avLst/>
          </a:prstGeom>
          <a:solidFill>
            <a:srgbClr val="EBF3FB"/>
          </a:solidFill>
          <a:ln w="12700">
            <a:solidFill>
              <a:srgbClr val="EBF3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345936" y="3035808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StockQty  INT  NOT NULL  DEFAULT 0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345936" y="3474720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  NVARCHAR(50)  NOT NULL  UNIQUE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272784" y="4462272"/>
            <a:ext cx="2688336" cy="347472"/>
          </a:xfrm>
          <a:prstGeom prst="rect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272784" y="4462272"/>
            <a:ext cx="26883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Price &gt;= 0  |  CHECK: StockQty &gt;= 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4.1 — Table Creation (Tables 4–6)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804672"/>
            <a:ext cx="283464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56032" y="804672"/>
            <a:ext cx="2834640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56032" y="80467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4: Orders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9184" y="1225296"/>
            <a:ext cx="2688336" cy="420624"/>
          </a:xfrm>
          <a:prstGeom prst="rect">
            <a:avLst/>
          </a:prstGeom>
          <a:solidFill>
            <a:srgbClr val="EBF3FB"/>
          </a:solidFill>
          <a:ln w="12700">
            <a:solidFill>
              <a:srgbClr val="EBF3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02336" y="1280160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OrderID  INT  PK IDENTITY(1,1)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02336" y="1719072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CustomerID  INT  NOT NULL  FK → Customers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9184" y="2103120"/>
            <a:ext cx="2688336" cy="420624"/>
          </a:xfrm>
          <a:prstGeom prst="rect">
            <a:avLst/>
          </a:prstGeom>
          <a:solidFill>
            <a:srgbClr val="EBF3FB"/>
          </a:solidFill>
          <a:ln w="12700">
            <a:solidFill>
              <a:srgbClr val="EBF3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02336" y="2157984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OrderDate  DATETIME  DEFAULT GETDATE()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02336" y="2596896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 NVARCHAR(20)  NOT NULL  DEFAULT 'Pending'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9184" y="2980944"/>
            <a:ext cx="2688336" cy="420624"/>
          </a:xfrm>
          <a:prstGeom prst="rect">
            <a:avLst/>
          </a:prstGeom>
          <a:solidFill>
            <a:srgbClr val="EBF3FB"/>
          </a:solidFill>
          <a:ln w="12700">
            <a:solidFill>
              <a:srgbClr val="EBF3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02336" y="3035808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TotalAmount  DECIMAL(10,2)  NOT NULL  DEFAULT 0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9184" y="4462272"/>
            <a:ext cx="2688336" cy="347472"/>
          </a:xfrm>
          <a:prstGeom prst="rect">
            <a:avLst/>
          </a:prstGeom>
          <a:solidFill>
            <a:srgbClr val="DC2626">
              <a:alpha val="15000"/>
            </a:srgbClr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9184" y="4462272"/>
            <a:ext cx="26883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Status IN (Pending, Processing, Shipped, Delivered, Cancelled)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27832" y="804672"/>
            <a:ext cx="283464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227832" y="804672"/>
            <a:ext cx="283464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27832" y="80467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5: OrderItems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300984" y="1225296"/>
            <a:ext cx="2688336" cy="420624"/>
          </a:xfrm>
          <a:prstGeom prst="rect">
            <a:avLst/>
          </a:prstGeom>
          <a:solidFill>
            <a:srgbClr val="EBF3FB"/>
          </a:solidFill>
          <a:ln w="12700">
            <a:solidFill>
              <a:srgbClr val="EBF3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374136" y="1280160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OrderItemID  INT  PK IDENTITY(1,1)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374136" y="1719072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OrderID  INT  NOT NULL  FK → Orders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300984" y="2103120"/>
            <a:ext cx="2688336" cy="420624"/>
          </a:xfrm>
          <a:prstGeom prst="rect">
            <a:avLst/>
          </a:prstGeom>
          <a:solidFill>
            <a:srgbClr val="EBF3FB"/>
          </a:solidFill>
          <a:ln w="12700">
            <a:solidFill>
              <a:srgbClr val="EBF3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374136" y="2157984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ProductID  INT  NOT NULL  FK → Products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374136" y="2596896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 INT  NOT NULL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300984" y="2980944"/>
            <a:ext cx="2688336" cy="420624"/>
          </a:xfrm>
          <a:prstGeom prst="rect">
            <a:avLst/>
          </a:prstGeom>
          <a:solidFill>
            <a:srgbClr val="EBF3FB"/>
          </a:solidFill>
          <a:ln w="12700">
            <a:solidFill>
              <a:srgbClr val="EBF3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374136" y="3035808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UnitPrice  DECIMAL(10,2)  NOT NULL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374136" y="3474720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 DECIMAL(5,2)  DEFAULT 0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300984" y="4462272"/>
            <a:ext cx="2688336" cy="347472"/>
          </a:xfrm>
          <a:prstGeom prst="rect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300984" y="4462272"/>
            <a:ext cx="26883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Quantity &gt; 0  |  CHECK: Discount 0–100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199632" y="804672"/>
            <a:ext cx="283464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199632" y="804672"/>
            <a:ext cx="2834640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199632" y="80467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6: Reviews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272784" y="1225296"/>
            <a:ext cx="2688336" cy="420624"/>
          </a:xfrm>
          <a:prstGeom prst="rect">
            <a:avLst/>
          </a:prstGeom>
          <a:solidFill>
            <a:srgbClr val="EBF3FB"/>
          </a:solidFill>
          <a:ln w="12700">
            <a:solidFill>
              <a:srgbClr val="EBF3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345936" y="1280160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ReviewID  INT  PK IDENTITY(1,1)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345936" y="1719072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ProductID  INT  NOT NULL  FK → Products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272784" y="2103120"/>
            <a:ext cx="2688336" cy="420624"/>
          </a:xfrm>
          <a:prstGeom prst="rect">
            <a:avLst/>
          </a:prstGeom>
          <a:solidFill>
            <a:srgbClr val="EBF3FB"/>
          </a:solidFill>
          <a:ln w="12700">
            <a:solidFill>
              <a:srgbClr val="EBF3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345936" y="2157984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CustomerID  INT  NOT NULL  FK → Customers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345936" y="2596896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 INT  NOT NULL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272784" y="2980944"/>
            <a:ext cx="2688336" cy="420624"/>
          </a:xfrm>
          <a:prstGeom prst="rect">
            <a:avLst/>
          </a:prstGeom>
          <a:solidFill>
            <a:srgbClr val="EBF3FB"/>
          </a:solidFill>
          <a:ln w="12700">
            <a:solidFill>
              <a:srgbClr val="EBF3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345936" y="3035808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ReviewText  NVARCHAR(1000)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345936" y="3474720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ReviewDate  DATETIME  DEFAULT GETDATE()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272784" y="4462272"/>
            <a:ext cx="2688336" cy="347472"/>
          </a:xfrm>
          <a:prstGeom prst="rect">
            <a:avLst/>
          </a:prstGeom>
          <a:solidFill>
            <a:srgbClr val="059669">
              <a:alpha val="15000"/>
            </a:srgbClr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272784" y="4462272"/>
            <a:ext cx="26883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Rating BETWEEN 1 AND 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4.1 — Sample Data Inserted (5+ rows per table)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56032" y="804672"/>
            <a:ext cx="1353312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56032" y="804672"/>
            <a:ext cx="1353312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56032" y="896112"/>
            <a:ext cx="13533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56032" y="1353312"/>
            <a:ext cx="1353312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56032" y="1591056"/>
            <a:ext cx="1353312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Chicago-area customers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737360" y="804672"/>
            <a:ext cx="1353312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737360" y="804672"/>
            <a:ext cx="1353312" cy="7315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737360" y="896112"/>
            <a:ext cx="13533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737360" y="1353312"/>
            <a:ext cx="1353312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737360" y="1591056"/>
            <a:ext cx="1353312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Electronics, Clothing, Sports…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18688" y="804672"/>
            <a:ext cx="1353312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3218688" y="804672"/>
            <a:ext cx="1353312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18688" y="896112"/>
            <a:ext cx="13533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3218688" y="1353312"/>
            <a:ext cx="1353312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18688" y="1591056"/>
            <a:ext cx="1353312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Laptops, phones, books, shoes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0016" y="804672"/>
            <a:ext cx="1353312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00016" y="804672"/>
            <a:ext cx="1353312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00016" y="896112"/>
            <a:ext cx="13533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4700016" y="1353312"/>
            <a:ext cx="1353312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00016" y="1591056"/>
            <a:ext cx="1353312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April–May 2026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81344" y="804672"/>
            <a:ext cx="1353312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181344" y="804672"/>
            <a:ext cx="1353312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181344" y="896112"/>
            <a:ext cx="13533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3400" dirty="0"/>
          </a:p>
        </p:txBody>
      </p:sp>
      <p:sp>
        <p:nvSpPr>
          <p:cNvPr id="27" name="Text 25"/>
          <p:cNvSpPr/>
          <p:nvPr/>
        </p:nvSpPr>
        <p:spPr>
          <a:xfrm>
            <a:off x="6181344" y="1353312"/>
            <a:ext cx="1353312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OrderItems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181344" y="1591056"/>
            <a:ext cx="1353312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items across all orders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662672" y="804672"/>
            <a:ext cx="1353312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662672" y="804672"/>
            <a:ext cx="1353312" cy="731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662672" y="896112"/>
            <a:ext cx="13533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400" dirty="0"/>
          </a:p>
        </p:txBody>
      </p:sp>
      <p:sp>
        <p:nvSpPr>
          <p:cNvPr id="32" name="Text 30"/>
          <p:cNvSpPr/>
          <p:nvPr/>
        </p:nvSpPr>
        <p:spPr>
          <a:xfrm>
            <a:off x="7662672" y="1353312"/>
            <a:ext cx="1353312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662672" y="1591056"/>
            <a:ext cx="1353312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1–5 stars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74320" y="221284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Products Inserted:</a:t>
            </a:r>
            <a:endParaRPr lang="en-US" sz="13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542032"/>
          <a:ext cx="8595360" cy="2414016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Dell Inspiron 15 Laptop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Laptops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$799.99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DELL-INS-15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Apple MacBook Air M2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Laptops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$1,099.99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APPLE-MBA-M2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Samsung Galaxy S24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Smartphones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$899.99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SAM-S24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iPhone 15 Pro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Smartphones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$1,199.99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APL-IP15P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Men's Running Shoes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Sports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$89.99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MRS-001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4.2 — CREATE VIEW Statements (3 Views)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595360" cy="131673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8595360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20624" y="9326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vw_CustomerOrderSummary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581816" y="932688"/>
            <a:ext cx="319642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Customer loyalty &amp; tier analysis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0624" y="1225296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 each customer's total number of orders, total amount spent, and last order date. Useful for customer loyalty analysis.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0624" y="1591056"/>
            <a:ext cx="8229600" cy="420624"/>
          </a:xfrm>
          <a:prstGeom prst="rect">
            <a:avLst/>
          </a:prstGeom>
          <a:solidFill>
            <a:srgbClr val="EBF3FB"/>
          </a:solidFill>
          <a:ln w="12700">
            <a:solidFill>
              <a:srgbClr val="EBF3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12064" y="1609344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Columns: CustomerName · Email · TotalOrders · TotalSpent · LastOrderDate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19" y="2231136"/>
            <a:ext cx="8595359" cy="131673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4320" y="2231136"/>
            <a:ext cx="8595360" cy="914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20624" y="23591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vw_ProductSalesPerformance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341413" y="2359151"/>
            <a:ext cx="4436828" cy="2560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Product performance dashboards &amp; inventory decisions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20623" y="2651760"/>
            <a:ext cx="8229601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Products, Categories, OrderItems &amp; Reviews to show each product's total units sold, total revenue generated, and average customer rating.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12064" y="3090672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Columns: ProductName · CategoryName · Price · StockQty · TotalUnitsSold · TotalRevenue · AvgRating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3657600"/>
            <a:ext cx="8595360" cy="131673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74320" y="3657600"/>
            <a:ext cx="8595360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20624" y="37856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vw_OrderDetailReport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651513" y="3785616"/>
            <a:ext cx="4126727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Order auditing, invoicing &amp; customer service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20624" y="4078224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line-item breakdown of every order joining Orders, Customers, OrderItems &amp; Products. Includes discount-adjusted LineTotal.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20624" y="4443984"/>
            <a:ext cx="8229600" cy="420624"/>
          </a:xfrm>
          <a:prstGeom prst="rect">
            <a:avLst/>
          </a:prstGeom>
          <a:solidFill>
            <a:srgbClr val="EBF3FB"/>
          </a:solidFill>
          <a:ln w="12700">
            <a:solidFill>
              <a:srgbClr val="EBF3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12064" y="4462272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Columns: OrderID · OrderDate · Status · CustomerName · ProductName · Quantity · UnitPrice · Discount · LineTotal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4.3 — Stored Procedures (3 Procedures)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595360" cy="131673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91440" cy="131673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20624" y="859536"/>
            <a:ext cx="347472" cy="3474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20624" y="85953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89611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sp_PlaceOrder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96112" y="1207008"/>
            <a:ext cx="7772400" cy="246888"/>
          </a:xfrm>
          <a:prstGeom prst="rect">
            <a:avLst/>
          </a:prstGeom>
          <a:solidFill>
            <a:srgbClr val="EBF3FB"/>
          </a:solidFill>
          <a:ln w="12700">
            <a:solidFill>
              <a:srgbClr val="EBF3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87552" y="1225296"/>
            <a:ext cx="7589520" cy="210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Parameters: IN: CustomerID, ProductID, Quantity  |  OUT: NewOrderID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96112" y="1499616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CustomerID, ProductID &amp; Quantity. Validates stock availability, creates an Order record, inserts an OrderItem, reduces inventory, and returns the new OrderID as an output parameter. Raises RAISERROR if stock is insufficient.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231136"/>
            <a:ext cx="8595360" cy="131673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4320" y="2231136"/>
            <a:ext cx="91440" cy="1316736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20624" y="2286000"/>
            <a:ext cx="347472" cy="347472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20624" y="22860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96112" y="232257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sp_GetCustomerOrders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96112" y="2633472"/>
            <a:ext cx="7772400" cy="246888"/>
          </a:xfrm>
          <a:prstGeom prst="rect">
            <a:avLst/>
          </a:prstGeom>
          <a:solidFill>
            <a:srgbClr val="EBF3FB"/>
          </a:solidFill>
          <a:ln w="12700">
            <a:solidFill>
              <a:srgbClr val="EBF3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87552" y="2651760"/>
            <a:ext cx="7589520" cy="210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Parameters: IN: CustomerID  |  OUT: OrderCount, TotalSpent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96112" y="29260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a customer's full order history with product details ordered by date descending. Returns aggregate output parameters — total number of orders and total amount spent.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3657600"/>
            <a:ext cx="8595360" cy="131673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74320" y="3657600"/>
            <a:ext cx="91440" cy="131673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20624" y="3712464"/>
            <a:ext cx="347472" cy="3474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20624" y="371246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96112" y="37490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sp_UpdateOrderStatus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896112" y="4059936"/>
            <a:ext cx="7772400" cy="246888"/>
          </a:xfrm>
          <a:prstGeom prst="rect">
            <a:avLst/>
          </a:prstGeom>
          <a:solidFill>
            <a:srgbClr val="EBF3FB"/>
          </a:solidFill>
          <a:ln w="12700">
            <a:solidFill>
              <a:srgbClr val="EBF3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87552" y="4078224"/>
            <a:ext cx="7589520" cy="210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Parameters: IN: OrderID, NewStatus  |  OUT: Success (BIT)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96112" y="4352544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the new status against allowed values (Pending / Processing / Shipped / Delivered / Cancelled). Updates the record and returns Success=1, or raises RAISERROR for invalid status.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4.4 — User-Defined Functions (3 Functions)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595360" cy="131673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8595360" cy="8229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20624" y="92354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fn_GetDiscountedPrice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20624" y="121615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fn_GetDiscountedPrice(@ProductID INT, @DiscountPct DECIMAL(5,2))  RETURNS DECIMAL(10,2)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0624" y="1481328"/>
            <a:ext cx="8229600" cy="256032"/>
          </a:xfrm>
          <a:prstGeom prst="rect">
            <a:avLst/>
          </a:prstGeom>
          <a:solidFill>
            <a:srgbClr val="EBF3FB"/>
          </a:solidFill>
          <a:ln w="12700">
            <a:solidFill>
              <a:srgbClr val="EBF3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12064" y="1499616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fn_GetDiscountedPrice(1, 10)  →  $719.99   (10% off Dell Inspiron @ $799.99)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0624" y="1773936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up the product's base price from the Products table and returns the price after applying the given percentage discount, rounded to 2 decimal places using ROUND().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74320" y="2231136"/>
            <a:ext cx="8595360" cy="131673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4320" y="2231136"/>
            <a:ext cx="8595360" cy="82296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20624" y="235000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fn_GetCategoryRevenue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20624" y="2642616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fn_GetCategoryRevenue(@CategoryID INT)  RETURNS DECIMAL(12,2)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20624" y="2907792"/>
            <a:ext cx="8229600" cy="256032"/>
          </a:xfrm>
          <a:prstGeom prst="rect">
            <a:avLst/>
          </a:prstGeom>
          <a:solidFill>
            <a:srgbClr val="EBF3FB"/>
          </a:solidFill>
          <a:ln w="12700">
            <a:solidFill>
              <a:srgbClr val="EBF3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12064" y="2926080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fn_GetCategoryRevenue(1)  →  Total revenue from all Electronics category orders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20624" y="3200399"/>
            <a:ext cx="8449056" cy="42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SUMs the revenue (Quantity × UnitPrice) from all OrderItems linked to products in a given category. Excludes cancelled orders. Returns 0 if no revenue using COALESCE().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74320" y="3657599"/>
            <a:ext cx="8595360" cy="1542553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74320" y="3657600"/>
            <a:ext cx="8595360" cy="822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20624" y="377647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fn_GetCustomerTier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20624" y="406908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fn_GetCustomerTier(@CustomerID INT)  RETURNS NVARCHAR(20)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20624" y="4334256"/>
            <a:ext cx="8229600" cy="256032"/>
          </a:xfrm>
          <a:prstGeom prst="rect">
            <a:avLst/>
          </a:prstGeom>
          <a:solidFill>
            <a:srgbClr val="EBF3FB"/>
          </a:solidFill>
          <a:ln w="12700">
            <a:solidFill>
              <a:srgbClr val="EBF3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12064" y="4352544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fn_GetCustomerTier(1)  →  'Gold'   (James Carter — spending $1,000–$1,999)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20624" y="46268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SUMs non-cancelled order spending for a customer. Returns tier via CASE: Bronze (&lt;$500) · Silver ($500+) · Gold ($1,000+) · Platinum ($2,000+).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4.5 — Triggers (3 Triggers)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595360" cy="131673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91440" cy="131673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75488" y="886968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trg_OrderItems_AfterInsert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0" y="896112"/>
            <a:ext cx="2377440" cy="246888"/>
          </a:xfrm>
          <a:prstGeom prst="rect">
            <a:avLst/>
          </a:prstGeom>
          <a:solidFill>
            <a:srgbClr val="028090">
              <a:alpha val="18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0" y="896112"/>
            <a:ext cx="2377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INSERT  on  OrderItems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5488" y="12070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after each INSERT on OrderItems. Automatically recalculates and updates TotalAmount on the parent Orders record — accounting for Quantity × UnitPrice × (1 – Discount/100). Correlated subquery handles multiple rows inserted at once.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5488" y="1737360"/>
            <a:ext cx="8229600" cy="274320"/>
          </a:xfrm>
          <a:prstGeom prst="rect">
            <a:avLst/>
          </a:prstGeom>
          <a:solidFill>
            <a:srgbClr val="EBF3FB"/>
          </a:solidFill>
          <a:ln w="12700">
            <a:solidFill>
              <a:srgbClr val="EBF3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66928" y="1755648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Order totals always accurate — no manual recalculation needed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231136"/>
            <a:ext cx="8595360" cy="131673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4320" y="2231136"/>
            <a:ext cx="91440" cy="131673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5488" y="2313432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trg_Customers_PreventDelete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0" y="2322576"/>
            <a:ext cx="2377440" cy="246888"/>
          </a:xfrm>
          <a:prstGeom prst="rect">
            <a:avLst/>
          </a:prstGeom>
          <a:solidFill>
            <a:srgbClr val="DC2626">
              <a:alpha val="18000"/>
            </a:srgbClr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0" y="2322576"/>
            <a:ext cx="2377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DELETE  on  Customers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488" y="263347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deletion of any customer who has existing orders. Uses the 'deleted' pseudo-table to check Orders. Raises RAISERROR and ROLLBACK TRANSACTION to protect referential integrity. Encourages IsActive=0 soft-delete instead.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75488" y="3163824"/>
            <a:ext cx="8229600" cy="274320"/>
          </a:xfrm>
          <a:prstGeom prst="rect">
            <a:avLst/>
          </a:prstGeom>
          <a:solidFill>
            <a:srgbClr val="EBF3FB"/>
          </a:solidFill>
          <a:ln w="12700">
            <a:solidFill>
              <a:srgbClr val="EBF3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66928" y="3182112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Confirmed: "Cannot delete customer with existing orders. Deactivate instead."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657600"/>
            <a:ext cx="8595360" cy="131673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74320" y="3657600"/>
            <a:ext cx="91440" cy="13167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5488" y="3739896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trg_Products_LowStock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00800" y="3749040"/>
            <a:ext cx="2377440" cy="246888"/>
          </a:xfrm>
          <a:prstGeom prst="rect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00800" y="3749040"/>
            <a:ext cx="2377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UPDATE  on  Products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5488" y="4059936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after every product stock update. Reads the 'inserted' pseudo-table and inserts an alert record into StockAlerts when StockQty &lt; 5 units — enabling inventory managers to reorder without any application-layer code.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75488" y="4590288"/>
            <a:ext cx="8229600" cy="274320"/>
          </a:xfrm>
          <a:prstGeom prst="rect">
            <a:avLst/>
          </a:prstGeom>
          <a:solidFill>
            <a:srgbClr val="EBF3FB"/>
          </a:solidFill>
          <a:ln w="12700">
            <a:solidFill>
              <a:srgbClr val="EBF3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66928" y="4608576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StockAlerts record auto-inserted when qty dropped to 3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— Testing — All Results Verified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804672"/>
            <a:ext cx="2834640" cy="41605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56032" y="804672"/>
            <a:ext cx="283464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56032" y="804672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  Stored Procedures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20624" y="1316736"/>
            <a:ext cx="274320" cy="2743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20624" y="131673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8096" y="1298448"/>
            <a:ext cx="221284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sp_PlaceOrder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68096" y="1563624"/>
            <a:ext cx="221284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NewOrderID returned (CustomerID=2, ProductID=12, Qty=3)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0624" y="2523744"/>
            <a:ext cx="274320" cy="2743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20624" y="25237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68096" y="2505456"/>
            <a:ext cx="221284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sp_GetCustomerOrders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68096" y="2770632"/>
            <a:ext cx="221284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TotalOrders &amp; TotalSpent returned for CustomerID=1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0624" y="3730752"/>
            <a:ext cx="274320" cy="2743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20624" y="37307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68096" y="3712464"/>
            <a:ext cx="221284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sp_UpdateOrderStatus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68096" y="3977640"/>
            <a:ext cx="221284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UpdateSuccess = 1 for OrderID=5 → 'Processing'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36976" y="804672"/>
            <a:ext cx="2834640" cy="41605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236976" y="804672"/>
            <a:ext cx="2834640" cy="3657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36976" y="804672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  Functions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401568" y="1316736"/>
            <a:ext cx="274320" cy="27432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401568" y="131673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749040" y="1298448"/>
            <a:ext cx="221284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fn_GetDiscountedPrice(1,10)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749040" y="1563624"/>
            <a:ext cx="221284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$719.99 ✔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01568" y="2523744"/>
            <a:ext cx="274320" cy="27432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401568" y="25237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749040" y="2505456"/>
            <a:ext cx="221284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fn_GetCategoryRevenue(1)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749040" y="2770632"/>
            <a:ext cx="221284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Electronics total revenue ✔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401568" y="3730752"/>
            <a:ext cx="274320" cy="27432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401568" y="37307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749040" y="3712464"/>
            <a:ext cx="221284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fn_GetCustomerTier(1)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3749040" y="3977640"/>
            <a:ext cx="221284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'Gold' tier returned ✔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17920" y="804672"/>
            <a:ext cx="2834640" cy="41605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217920" y="804672"/>
            <a:ext cx="283464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217920" y="804672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  Triggers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6382512" y="1316736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382512" y="131673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729984" y="1298448"/>
            <a:ext cx="221284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trg_OrderItems_AfterInsert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6729984" y="1563624"/>
            <a:ext cx="221284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TotalAmount auto-updated after INSERT into OrderItems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382512" y="2523744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382512" y="25237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729984" y="2505456"/>
            <a:ext cx="221284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trg_Customers_PreventDelete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6729984" y="2770632"/>
            <a:ext cx="221284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"Cannot delete customer with existing orders" error raised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382512" y="3730752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382512" y="37307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729984" y="3712464"/>
            <a:ext cx="221284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trg_Products_LowStock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6729984" y="3977640"/>
            <a:ext cx="221284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StockAlerts record created after StockQty set to 3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274320" y="491947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in VS Code using mssql extension  |  Server: localhost:1434  |  Database: ECommerceDB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— Conclusions, Key Features &amp; Challenges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Implemented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133856"/>
            <a:ext cx="73152" cy="5303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133856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normalized tables with full constraint enforcement (PK, FK, CHECK, NOT NULL, UNIQUE)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74320" y="1865376"/>
            <a:ext cx="73152" cy="5303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865376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analytical Views: Customer spending · Product sales · Order line-item details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4320" y="2596896"/>
            <a:ext cx="73152" cy="5303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2596896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Stored Procedures: Order placement · Customer history · Status updates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74320" y="3328416"/>
            <a:ext cx="73152" cy="5303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3328416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Scalar Functions: Discounted price · Category revenue · Customer loyalty tier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74320" y="4059936"/>
            <a:ext cx="73152" cy="5303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4059936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Triggers: Auto order totals · Delete protection · Low-stock alerts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754880" y="80467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Encountered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54880" y="1133856"/>
            <a:ext cx="4114800" cy="113385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54880" y="1133856"/>
            <a:ext cx="4114800" cy="8229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82896" y="1243584"/>
            <a:ext cx="385876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Self-Referencing FK in Categories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882896" y="1517904"/>
            <a:ext cx="385876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Careful INSERT ordering required — parent categories must be inserted before child subcategories to avoid FK violations.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754880" y="2395728"/>
            <a:ext cx="4114800" cy="113385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54880" y="2395728"/>
            <a:ext cx="4114800" cy="8229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82896" y="2505456"/>
            <a:ext cx="385876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DELETE Trigger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882896" y="2779776"/>
            <a:ext cx="385876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TRANSACTION logic needed careful placement to prevent partial deletes while still allowing valid customer deletions.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754880" y="3657600"/>
            <a:ext cx="4114800" cy="113385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54880" y="3657600"/>
            <a:ext cx="4114800" cy="8229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82896" y="3767328"/>
            <a:ext cx="385876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&amp; the 'inserted' Table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882896" y="4041648"/>
            <a:ext cx="385876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Correlated subquery approach required since multiple rows can be inserted at once — simple SELECT from 'inserted' would only get one row.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743200"/>
            <a:ext cx="4114800" cy="4114800"/>
          </a:xfrm>
          <a:prstGeom prst="ellipse">
            <a:avLst/>
          </a:prstGeom>
          <a:solidFill>
            <a:srgbClr val="028090">
              <a:alpha val="18000"/>
            </a:srgbClr>
          </a:solidFill>
          <a:ln w="12700">
            <a:solidFill>
              <a:srgbClr val="028090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315200" y="-1097280"/>
            <a:ext cx="2926080" cy="2926080"/>
          </a:xfrm>
          <a:prstGeom prst="ellipse">
            <a:avLst/>
          </a:prstGeom>
          <a:solidFill>
            <a:srgbClr val="02C39A">
              <a:alpha val="22000"/>
            </a:srgbClr>
          </a:solidFill>
          <a:ln w="12700">
            <a:solidFill>
              <a:srgbClr val="02C39A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5800" dirty="0"/>
          </a:p>
        </p:txBody>
      </p:sp>
      <p:sp>
        <p:nvSpPr>
          <p:cNvPr id="5" name="Shape 3"/>
          <p:cNvSpPr/>
          <p:nvPr/>
        </p:nvSpPr>
        <p:spPr>
          <a:xfrm>
            <a:off x="2926080" y="1481328"/>
            <a:ext cx="329184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Syamala Rao Gudipudi  &amp;  Akshitha Sanapuri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CPSC 4576 — Database Systems  |  Governors State University  |  Spring 2026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9992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2918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Coronel &amp; Morris (2023). Database Systems: Design, Implementation &amp; Management (14th ed.). Cengage.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3639312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Docs — Transact-SQL Reference &amp; SSMS Documentation (2024).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3986784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W3Schools SQL Tutorial · Stack Overflow SQL Server Community 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" y="4407408"/>
            <a:ext cx="1280160" cy="62179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5488" y="4425696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75488" y="473659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956816" y="4407408"/>
            <a:ext cx="1280160" cy="62179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956816" y="4425696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956816" y="473659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38144" y="4407408"/>
            <a:ext cx="1280160" cy="62179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438144" y="4425696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3438144" y="473659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919472" y="4407408"/>
            <a:ext cx="1280160" cy="62179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919472" y="4425696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4919472" y="473659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0" y="4407408"/>
            <a:ext cx="1280160" cy="62179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400800" y="4425696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6400800" y="473659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882128" y="4407408"/>
            <a:ext cx="1280160" cy="62179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882128" y="4425696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7882128" y="473659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1D439EF-5B60-994C-B90E-499BAA6B8508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9d9a1314-4017-476d-97ec-c8910f226945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1824</Words>
  <Application>Microsoft Macintosh PowerPoint</Application>
  <PresentationFormat>On-screen Show (16:9)</PresentationFormat>
  <Paragraphs>300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E-Commerce Database System — CPSC 4576</dc:title>
  <dc:subject>PptxGenJS Presentation</dc:subject>
  <dc:creator>PptxGenJS</dc:creator>
  <cp:lastModifiedBy>Gudipudi, Syamala Rao (Student)</cp:lastModifiedBy>
  <cp:revision>4</cp:revision>
  <dcterms:created xsi:type="dcterms:W3CDTF">2026-05-05T20:08:27Z</dcterms:created>
  <dcterms:modified xsi:type="dcterms:W3CDTF">2026-05-05T22:15:28Z</dcterms:modified>
</cp:coreProperties>
</file>